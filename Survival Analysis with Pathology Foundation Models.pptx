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6"/>
  </p:notesMasterIdLst>
  <p:sldIdLst>
    <p:sldId id="256" r:id="rId2"/>
    <p:sldId id="268" r:id="rId3"/>
    <p:sldId id="257" r:id="rId4"/>
    <p:sldId id="258" r:id="rId5"/>
    <p:sldId id="259" r:id="rId6"/>
    <p:sldId id="260" r:id="rId7"/>
    <p:sldId id="261" r:id="rId8"/>
    <p:sldId id="262" r:id="rId9"/>
    <p:sldId id="263" r:id="rId10"/>
    <p:sldId id="264" r:id="rId11"/>
    <p:sldId id="265" r:id="rId12"/>
    <p:sldId id="266" r:id="rId13"/>
    <p:sldId id="269" r:id="rId14"/>
    <p:sldId id="267" r:id="rId15"/>
  </p:sldIdLst>
  <p:sldSz cx="12192000" cy="6858000"/>
  <p:notesSz cx="6858000" cy="9144000"/>
  <p:embeddedFontLst>
    <p:embeddedFont>
      <p:font typeface="Cambria Math" panose="02040503050406030204" pitchFamily="18" charset="0"/>
      <p:regular r:id="rId17"/>
    </p:embeddedFont>
    <p:embeddedFont>
      <p:font typeface="Roboto Mono" panose="00000009000000000000" pitchFamily="49" charset="0"/>
      <p:regular r:id="rId18"/>
      <p:bold r:id="rId19"/>
      <p:italic r:id="rId20"/>
      <p:boldItalic r:id="rId21"/>
    </p:embeddedFont>
    <p:embeddedFont>
      <p:font typeface="Work Sans"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5D45EB-E895-428D-8E61-846B5DD81BCE}" v="32" dt="2025-11-28T14:42:32.930"/>
  </p1510:revLst>
</p1510:revInfo>
</file>

<file path=ppt/tableStyles.xml><?xml version="1.0" encoding="utf-8"?>
<a:tblStyleLst xmlns:a="http://schemas.openxmlformats.org/drawingml/2006/main" def="{0CBD9752-4FEF-4BC2-892A-BC592B268AA8}">
  <a:tblStyle styleId="{0CBD9752-4FEF-4BC2-892A-BC592B268AA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073" autoAdjust="0"/>
  </p:normalViewPr>
  <p:slideViewPr>
    <p:cSldViewPr snapToGrid="0">
      <p:cViewPr varScale="1">
        <p:scale>
          <a:sx n="59" d="100"/>
          <a:sy n="59" d="100"/>
        </p:scale>
        <p:origin x="744" y="7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odiao Kuang" userId="88bad50b8b97a805" providerId="LiveId" clId="{594590F9-4A99-475E-95E5-B4346DFE7292}"/>
    <pc:docChg chg="custSel addSld modSld">
      <pc:chgData name="Zhuodiao Kuang" userId="88bad50b8b97a805" providerId="LiveId" clId="{594590F9-4A99-475E-95E5-B4346DFE7292}" dt="2025-11-28T14:39:23.190" v="537"/>
      <pc:docMkLst>
        <pc:docMk/>
      </pc:docMkLst>
      <pc:sldChg chg="modSp mod modNotesTx">
        <pc:chgData name="Zhuodiao Kuang" userId="88bad50b8b97a805" providerId="LiveId" clId="{594590F9-4A99-475E-95E5-B4346DFE7292}" dt="2025-11-28T00:03:36.425" v="325" actId="207"/>
        <pc:sldMkLst>
          <pc:docMk/>
          <pc:sldMk cId="0" sldId="256"/>
        </pc:sldMkLst>
        <pc:spChg chg="mod">
          <ac:chgData name="Zhuodiao Kuang" userId="88bad50b8b97a805" providerId="LiveId" clId="{594590F9-4A99-475E-95E5-B4346DFE7292}" dt="2025-11-28T00:03:32.176" v="324" actId="207"/>
          <ac:spMkLst>
            <pc:docMk/>
            <pc:sldMk cId="0" sldId="256"/>
            <ac:spMk id="87" creationId="{00000000-0000-0000-0000-000000000000}"/>
          </ac:spMkLst>
        </pc:spChg>
        <pc:spChg chg="mod">
          <ac:chgData name="Zhuodiao Kuang" userId="88bad50b8b97a805" providerId="LiveId" clId="{594590F9-4A99-475E-95E5-B4346DFE7292}" dt="2025-11-28T00:03:36.425" v="325" actId="207"/>
          <ac:spMkLst>
            <pc:docMk/>
            <pc:sldMk cId="0" sldId="256"/>
            <ac:spMk id="88" creationId="{00000000-0000-0000-0000-000000000000}"/>
          </ac:spMkLst>
        </pc:spChg>
      </pc:sldChg>
      <pc:sldChg chg="addSp delSp modSp mod modNotesTx">
        <pc:chgData name="Zhuodiao Kuang" userId="88bad50b8b97a805" providerId="LiveId" clId="{594590F9-4A99-475E-95E5-B4346DFE7292}" dt="2025-11-28T00:19:02.450" v="401" actId="207"/>
        <pc:sldMkLst>
          <pc:docMk/>
          <pc:sldMk cId="0" sldId="257"/>
        </pc:sldMkLst>
        <pc:spChg chg="add mod">
          <ac:chgData name="Zhuodiao Kuang" userId="88bad50b8b97a805" providerId="LiveId" clId="{594590F9-4A99-475E-95E5-B4346DFE7292}" dt="2025-11-28T00:19:02.450" v="401" actId="207"/>
          <ac:spMkLst>
            <pc:docMk/>
            <pc:sldMk cId="0" sldId="257"/>
            <ac:spMk id="5" creationId="{6DDAF523-C86C-1757-EB2B-C7D8C1F08F76}"/>
          </ac:spMkLst>
        </pc:spChg>
        <pc:spChg chg="mod">
          <ac:chgData name="Zhuodiao Kuang" userId="88bad50b8b97a805" providerId="LiveId" clId="{594590F9-4A99-475E-95E5-B4346DFE7292}" dt="2025-11-28T00:12:02.395" v="340" actId="1076"/>
          <ac:spMkLst>
            <pc:docMk/>
            <pc:sldMk cId="0" sldId="257"/>
            <ac:spMk id="94" creationId="{00000000-0000-0000-0000-000000000000}"/>
          </ac:spMkLst>
        </pc:spChg>
        <pc:spChg chg="mod">
          <ac:chgData name="Zhuodiao Kuang" userId="88bad50b8b97a805" providerId="LiveId" clId="{594590F9-4A99-475E-95E5-B4346DFE7292}" dt="2025-11-28T00:12:02.395" v="340" actId="1076"/>
          <ac:spMkLst>
            <pc:docMk/>
            <pc:sldMk cId="0" sldId="257"/>
            <ac:spMk id="95" creationId="{00000000-0000-0000-0000-000000000000}"/>
          </ac:spMkLst>
        </pc:spChg>
        <pc:spChg chg="mod">
          <ac:chgData name="Zhuodiao Kuang" userId="88bad50b8b97a805" providerId="LiveId" clId="{594590F9-4A99-475E-95E5-B4346DFE7292}" dt="2025-11-28T00:12:02.395" v="340" actId="1076"/>
          <ac:spMkLst>
            <pc:docMk/>
            <pc:sldMk cId="0" sldId="257"/>
            <ac:spMk id="96" creationId="{00000000-0000-0000-0000-000000000000}"/>
          </ac:spMkLst>
        </pc:spChg>
        <pc:spChg chg="mod">
          <ac:chgData name="Zhuodiao Kuang" userId="88bad50b8b97a805" providerId="LiveId" clId="{594590F9-4A99-475E-95E5-B4346DFE7292}" dt="2025-11-28T00:12:02.395" v="340" actId="1076"/>
          <ac:spMkLst>
            <pc:docMk/>
            <pc:sldMk cId="0" sldId="257"/>
            <ac:spMk id="97" creationId="{00000000-0000-0000-0000-000000000000}"/>
          </ac:spMkLst>
        </pc:spChg>
        <pc:picChg chg="add mod">
          <ac:chgData name="Zhuodiao Kuang" userId="88bad50b8b97a805" providerId="LiveId" clId="{594590F9-4A99-475E-95E5-B4346DFE7292}" dt="2025-11-28T00:12:04.123" v="341" actId="1076"/>
          <ac:picMkLst>
            <pc:docMk/>
            <pc:sldMk cId="0" sldId="257"/>
            <ac:picMk id="3" creationId="{3399950C-D554-C34F-7470-9857084B2F84}"/>
          </ac:picMkLst>
        </pc:picChg>
        <pc:picChg chg="del">
          <ac:chgData name="Zhuodiao Kuang" userId="88bad50b8b97a805" providerId="LiveId" clId="{594590F9-4A99-475E-95E5-B4346DFE7292}" dt="2025-11-28T00:03:21.010" v="323" actId="478"/>
          <ac:picMkLst>
            <pc:docMk/>
            <pc:sldMk cId="0" sldId="257"/>
            <ac:picMk id="98" creationId="{00000000-0000-0000-0000-000000000000}"/>
          </ac:picMkLst>
        </pc:picChg>
      </pc:sldChg>
      <pc:sldChg chg="addSp delSp modSp mod">
        <pc:chgData name="Zhuodiao Kuang" userId="88bad50b8b97a805" providerId="LiveId" clId="{594590F9-4A99-475E-95E5-B4346DFE7292}" dt="2025-11-28T00:24:33.280" v="410" actId="207"/>
        <pc:sldMkLst>
          <pc:docMk/>
          <pc:sldMk cId="0" sldId="258"/>
        </pc:sldMkLst>
        <pc:spChg chg="mod">
          <ac:chgData name="Zhuodiao Kuang" userId="88bad50b8b97a805" providerId="LiveId" clId="{594590F9-4A99-475E-95E5-B4346DFE7292}" dt="2025-11-28T00:24:27.216" v="407" actId="207"/>
          <ac:spMkLst>
            <pc:docMk/>
            <pc:sldMk cId="0" sldId="258"/>
            <ac:spMk id="105" creationId="{00000000-0000-0000-0000-000000000000}"/>
          </ac:spMkLst>
        </pc:spChg>
        <pc:spChg chg="mod">
          <ac:chgData name="Zhuodiao Kuang" userId="88bad50b8b97a805" providerId="LiveId" clId="{594590F9-4A99-475E-95E5-B4346DFE7292}" dt="2025-11-28T00:24:29.342" v="408" actId="207"/>
          <ac:spMkLst>
            <pc:docMk/>
            <pc:sldMk cId="0" sldId="258"/>
            <ac:spMk id="106" creationId="{00000000-0000-0000-0000-000000000000}"/>
          </ac:spMkLst>
        </pc:spChg>
        <pc:spChg chg="mod">
          <ac:chgData name="Zhuodiao Kuang" userId="88bad50b8b97a805" providerId="LiveId" clId="{594590F9-4A99-475E-95E5-B4346DFE7292}" dt="2025-11-28T00:24:31.307" v="409" actId="207"/>
          <ac:spMkLst>
            <pc:docMk/>
            <pc:sldMk cId="0" sldId="258"/>
            <ac:spMk id="107" creationId="{00000000-0000-0000-0000-000000000000}"/>
          </ac:spMkLst>
        </pc:spChg>
        <pc:spChg chg="mod">
          <ac:chgData name="Zhuodiao Kuang" userId="88bad50b8b97a805" providerId="LiveId" clId="{594590F9-4A99-475E-95E5-B4346DFE7292}" dt="2025-11-28T00:24:33.280" v="410" actId="207"/>
          <ac:spMkLst>
            <pc:docMk/>
            <pc:sldMk cId="0" sldId="258"/>
            <ac:spMk id="108" creationId="{00000000-0000-0000-0000-000000000000}"/>
          </ac:spMkLst>
        </pc:spChg>
        <pc:picChg chg="add mod">
          <ac:chgData name="Zhuodiao Kuang" userId="88bad50b8b97a805" providerId="LiveId" clId="{594590F9-4A99-475E-95E5-B4346DFE7292}" dt="2025-11-28T00:24:12.816" v="406" actId="14100"/>
          <ac:picMkLst>
            <pc:docMk/>
            <pc:sldMk cId="0" sldId="258"/>
            <ac:picMk id="3" creationId="{7A3AD635-54C8-2E14-D863-06078ECD8CA7}"/>
          </ac:picMkLst>
        </pc:picChg>
        <pc:picChg chg="del">
          <ac:chgData name="Zhuodiao Kuang" userId="88bad50b8b97a805" providerId="LiveId" clId="{594590F9-4A99-475E-95E5-B4346DFE7292}" dt="2025-11-28T00:23:49.926" v="403" actId="478"/>
          <ac:picMkLst>
            <pc:docMk/>
            <pc:sldMk cId="0" sldId="258"/>
            <ac:picMk id="104" creationId="{00000000-0000-0000-0000-000000000000}"/>
          </ac:picMkLst>
        </pc:picChg>
        <pc:picChg chg="del">
          <ac:chgData name="Zhuodiao Kuang" userId="88bad50b8b97a805" providerId="LiveId" clId="{594590F9-4A99-475E-95E5-B4346DFE7292}" dt="2025-11-28T00:23:22.836" v="402" actId="478"/>
          <ac:picMkLst>
            <pc:docMk/>
            <pc:sldMk cId="0" sldId="258"/>
            <ac:picMk id="109" creationId="{00000000-0000-0000-0000-000000000000}"/>
          </ac:picMkLst>
        </pc:picChg>
      </pc:sldChg>
      <pc:sldChg chg="modSp mod">
        <pc:chgData name="Zhuodiao Kuang" userId="88bad50b8b97a805" providerId="LiveId" clId="{594590F9-4A99-475E-95E5-B4346DFE7292}" dt="2025-11-28T00:25:37.609" v="416" actId="207"/>
        <pc:sldMkLst>
          <pc:docMk/>
          <pc:sldMk cId="0" sldId="259"/>
        </pc:sldMkLst>
        <pc:spChg chg="mod">
          <ac:chgData name="Zhuodiao Kuang" userId="88bad50b8b97a805" providerId="LiveId" clId="{594590F9-4A99-475E-95E5-B4346DFE7292}" dt="2025-11-28T00:25:32.352" v="414" actId="207"/>
          <ac:spMkLst>
            <pc:docMk/>
            <pc:sldMk cId="0" sldId="259"/>
            <ac:spMk id="123" creationId="{00000000-0000-0000-0000-000000000000}"/>
          </ac:spMkLst>
        </pc:spChg>
        <pc:spChg chg="mod">
          <ac:chgData name="Zhuodiao Kuang" userId="88bad50b8b97a805" providerId="LiveId" clId="{594590F9-4A99-475E-95E5-B4346DFE7292}" dt="2025-11-28T00:25:23.844" v="411" actId="207"/>
          <ac:spMkLst>
            <pc:docMk/>
            <pc:sldMk cId="0" sldId="259"/>
            <ac:spMk id="124" creationId="{00000000-0000-0000-0000-000000000000}"/>
          </ac:spMkLst>
        </pc:spChg>
        <pc:spChg chg="mod">
          <ac:chgData name="Zhuodiao Kuang" userId="88bad50b8b97a805" providerId="LiveId" clId="{594590F9-4A99-475E-95E5-B4346DFE7292}" dt="2025-11-28T00:25:35.335" v="415" actId="207"/>
          <ac:spMkLst>
            <pc:docMk/>
            <pc:sldMk cId="0" sldId="259"/>
            <ac:spMk id="125" creationId="{00000000-0000-0000-0000-000000000000}"/>
          </ac:spMkLst>
        </pc:spChg>
        <pc:spChg chg="mod">
          <ac:chgData name="Zhuodiao Kuang" userId="88bad50b8b97a805" providerId="LiveId" clId="{594590F9-4A99-475E-95E5-B4346DFE7292}" dt="2025-11-28T00:25:26.378" v="412" actId="207"/>
          <ac:spMkLst>
            <pc:docMk/>
            <pc:sldMk cId="0" sldId="259"/>
            <ac:spMk id="126" creationId="{00000000-0000-0000-0000-000000000000}"/>
          </ac:spMkLst>
        </pc:spChg>
        <pc:spChg chg="mod">
          <ac:chgData name="Zhuodiao Kuang" userId="88bad50b8b97a805" providerId="LiveId" clId="{594590F9-4A99-475E-95E5-B4346DFE7292}" dt="2025-11-28T00:25:37.609" v="416" actId="207"/>
          <ac:spMkLst>
            <pc:docMk/>
            <pc:sldMk cId="0" sldId="259"/>
            <ac:spMk id="127" creationId="{00000000-0000-0000-0000-000000000000}"/>
          </ac:spMkLst>
        </pc:spChg>
        <pc:spChg chg="mod">
          <ac:chgData name="Zhuodiao Kuang" userId="88bad50b8b97a805" providerId="LiveId" clId="{594590F9-4A99-475E-95E5-B4346DFE7292}" dt="2025-11-28T00:25:28.675" v="413" actId="207"/>
          <ac:spMkLst>
            <pc:docMk/>
            <pc:sldMk cId="0" sldId="259"/>
            <ac:spMk id="128" creationId="{00000000-0000-0000-0000-000000000000}"/>
          </ac:spMkLst>
        </pc:spChg>
      </pc:sldChg>
      <pc:sldChg chg="addSp delSp modSp mod modNotesTx">
        <pc:chgData name="Zhuodiao Kuang" userId="88bad50b8b97a805" providerId="LiveId" clId="{594590F9-4A99-475E-95E5-B4346DFE7292}" dt="2025-11-28T13:56:52.925" v="473" actId="20577"/>
        <pc:sldMkLst>
          <pc:docMk/>
          <pc:sldMk cId="0" sldId="260"/>
        </pc:sldMkLst>
        <pc:spChg chg="mod">
          <ac:chgData name="Zhuodiao Kuang" userId="88bad50b8b97a805" providerId="LiveId" clId="{594590F9-4A99-475E-95E5-B4346DFE7292}" dt="2025-11-28T00:28:57.655" v="440" actId="1076"/>
          <ac:spMkLst>
            <pc:docMk/>
            <pc:sldMk cId="0" sldId="260"/>
            <ac:spMk id="141" creationId="{00000000-0000-0000-0000-000000000000}"/>
          </ac:spMkLst>
        </pc:spChg>
        <pc:spChg chg="del mod">
          <ac:chgData name="Zhuodiao Kuang" userId="88bad50b8b97a805" providerId="LiveId" clId="{594590F9-4A99-475E-95E5-B4346DFE7292}" dt="2025-11-28T00:29:17.272" v="446" actId="478"/>
          <ac:spMkLst>
            <pc:docMk/>
            <pc:sldMk cId="0" sldId="260"/>
            <ac:spMk id="142" creationId="{00000000-0000-0000-0000-000000000000}"/>
          </ac:spMkLst>
        </pc:spChg>
        <pc:spChg chg="mod">
          <ac:chgData name="Zhuodiao Kuang" userId="88bad50b8b97a805" providerId="LiveId" clId="{594590F9-4A99-475E-95E5-B4346DFE7292}" dt="2025-11-28T00:29:00.600" v="441" actId="1076"/>
          <ac:spMkLst>
            <pc:docMk/>
            <pc:sldMk cId="0" sldId="260"/>
            <ac:spMk id="143" creationId="{00000000-0000-0000-0000-000000000000}"/>
          </ac:spMkLst>
        </pc:spChg>
        <pc:spChg chg="mod">
          <ac:chgData name="Zhuodiao Kuang" userId="88bad50b8b97a805" providerId="LiveId" clId="{594590F9-4A99-475E-95E5-B4346DFE7292}" dt="2025-11-28T00:29:19.898" v="447" actId="20577"/>
          <ac:spMkLst>
            <pc:docMk/>
            <pc:sldMk cId="0" sldId="260"/>
            <ac:spMk id="144" creationId="{00000000-0000-0000-0000-000000000000}"/>
          </ac:spMkLst>
        </pc:spChg>
        <pc:spChg chg="mod">
          <ac:chgData name="Zhuodiao Kuang" userId="88bad50b8b97a805" providerId="LiveId" clId="{594590F9-4A99-475E-95E5-B4346DFE7292}" dt="2025-11-28T00:29:03.574" v="442" actId="1076"/>
          <ac:spMkLst>
            <pc:docMk/>
            <pc:sldMk cId="0" sldId="260"/>
            <ac:spMk id="145" creationId="{00000000-0000-0000-0000-000000000000}"/>
          </ac:spMkLst>
        </pc:spChg>
        <pc:spChg chg="del">
          <ac:chgData name="Zhuodiao Kuang" userId="88bad50b8b97a805" providerId="LiveId" clId="{594590F9-4A99-475E-95E5-B4346DFE7292}" dt="2025-11-28T00:29:31.194" v="448" actId="478"/>
          <ac:spMkLst>
            <pc:docMk/>
            <pc:sldMk cId="0" sldId="260"/>
            <ac:spMk id="146" creationId="{00000000-0000-0000-0000-000000000000}"/>
          </ac:spMkLst>
        </pc:spChg>
        <pc:spChg chg="mod">
          <ac:chgData name="Zhuodiao Kuang" userId="88bad50b8b97a805" providerId="LiveId" clId="{594590F9-4A99-475E-95E5-B4346DFE7292}" dt="2025-11-28T00:29:07.671" v="443" actId="1076"/>
          <ac:spMkLst>
            <pc:docMk/>
            <pc:sldMk cId="0" sldId="260"/>
            <ac:spMk id="147" creationId="{00000000-0000-0000-0000-000000000000}"/>
          </ac:spMkLst>
        </pc:spChg>
        <pc:spChg chg="mod">
          <ac:chgData name="Zhuodiao Kuang" userId="88bad50b8b97a805" providerId="LiveId" clId="{594590F9-4A99-475E-95E5-B4346DFE7292}" dt="2025-11-28T00:29:09.711" v="444" actId="1076"/>
          <ac:spMkLst>
            <pc:docMk/>
            <pc:sldMk cId="0" sldId="260"/>
            <ac:spMk id="149" creationId="{00000000-0000-0000-0000-000000000000}"/>
          </ac:spMkLst>
        </pc:spChg>
        <pc:picChg chg="add mod">
          <ac:chgData name="Zhuodiao Kuang" userId="88bad50b8b97a805" providerId="LiveId" clId="{594590F9-4A99-475E-95E5-B4346DFE7292}" dt="2025-11-28T00:29:44.816" v="451" actId="14100"/>
          <ac:picMkLst>
            <pc:docMk/>
            <pc:sldMk cId="0" sldId="260"/>
            <ac:picMk id="3" creationId="{E06657ED-5DDE-864A-2A3F-AADA9E94EC9B}"/>
          </ac:picMkLst>
        </pc:picChg>
        <pc:picChg chg="del">
          <ac:chgData name="Zhuodiao Kuang" userId="88bad50b8b97a805" providerId="LiveId" clId="{594590F9-4A99-475E-95E5-B4346DFE7292}" dt="2025-11-28T00:27:30.914" v="426" actId="478"/>
          <ac:picMkLst>
            <pc:docMk/>
            <pc:sldMk cId="0" sldId="260"/>
            <ac:picMk id="139" creationId="{00000000-0000-0000-0000-000000000000}"/>
          </ac:picMkLst>
        </pc:picChg>
        <pc:picChg chg="del">
          <ac:chgData name="Zhuodiao Kuang" userId="88bad50b8b97a805" providerId="LiveId" clId="{594590F9-4A99-475E-95E5-B4346DFE7292}" dt="2025-11-28T00:27:26.782" v="425" actId="478"/>
          <ac:picMkLst>
            <pc:docMk/>
            <pc:sldMk cId="0" sldId="260"/>
            <ac:picMk id="140" creationId="{00000000-0000-0000-0000-000000000000}"/>
          </ac:picMkLst>
        </pc:picChg>
      </pc:sldChg>
      <pc:sldChg chg="delSp modSp mod">
        <pc:chgData name="Zhuodiao Kuang" userId="88bad50b8b97a805" providerId="LiveId" clId="{594590F9-4A99-475E-95E5-B4346DFE7292}" dt="2025-11-28T14:11:49.924" v="498" actId="207"/>
        <pc:sldMkLst>
          <pc:docMk/>
          <pc:sldMk cId="0" sldId="261"/>
        </pc:sldMkLst>
        <pc:spChg chg="mod">
          <ac:chgData name="Zhuodiao Kuang" userId="88bad50b8b97a805" providerId="LiveId" clId="{594590F9-4A99-475E-95E5-B4346DFE7292}" dt="2025-11-28T14:11:49.924" v="498" actId="207"/>
          <ac:spMkLst>
            <pc:docMk/>
            <pc:sldMk cId="0" sldId="261"/>
            <ac:spMk id="159" creationId="{00000000-0000-0000-0000-000000000000}"/>
          </ac:spMkLst>
        </pc:spChg>
        <pc:spChg chg="del mod">
          <ac:chgData name="Zhuodiao Kuang" userId="88bad50b8b97a805" providerId="LiveId" clId="{594590F9-4A99-475E-95E5-B4346DFE7292}" dt="2025-11-28T13:58:35.818" v="488" actId="478"/>
          <ac:spMkLst>
            <pc:docMk/>
            <pc:sldMk cId="0" sldId="261"/>
            <ac:spMk id="161" creationId="{00000000-0000-0000-0000-000000000000}"/>
          </ac:spMkLst>
        </pc:spChg>
      </pc:sldChg>
      <pc:sldChg chg="addSp delSp modSp mod">
        <pc:chgData name="Zhuodiao Kuang" userId="88bad50b8b97a805" providerId="LiveId" clId="{594590F9-4A99-475E-95E5-B4346DFE7292}" dt="2025-11-28T14:11:59.904" v="501" actId="207"/>
        <pc:sldMkLst>
          <pc:docMk/>
          <pc:sldMk cId="0" sldId="262"/>
        </pc:sldMkLst>
        <pc:spChg chg="mod">
          <ac:chgData name="Zhuodiao Kuang" userId="88bad50b8b97a805" providerId="LiveId" clId="{594590F9-4A99-475E-95E5-B4346DFE7292}" dt="2025-11-28T14:11:56.083" v="499" actId="207"/>
          <ac:spMkLst>
            <pc:docMk/>
            <pc:sldMk cId="0" sldId="262"/>
            <ac:spMk id="170" creationId="{00000000-0000-0000-0000-000000000000}"/>
          </ac:spMkLst>
        </pc:spChg>
        <pc:spChg chg="mod">
          <ac:chgData name="Zhuodiao Kuang" userId="88bad50b8b97a805" providerId="LiveId" clId="{594590F9-4A99-475E-95E5-B4346DFE7292}" dt="2025-11-28T14:11:57.917" v="500" actId="207"/>
          <ac:spMkLst>
            <pc:docMk/>
            <pc:sldMk cId="0" sldId="262"/>
            <ac:spMk id="171" creationId="{00000000-0000-0000-0000-000000000000}"/>
          </ac:spMkLst>
        </pc:spChg>
        <pc:spChg chg="mod">
          <ac:chgData name="Zhuodiao Kuang" userId="88bad50b8b97a805" providerId="LiveId" clId="{594590F9-4A99-475E-95E5-B4346DFE7292}" dt="2025-11-28T14:11:59.904" v="501" actId="207"/>
          <ac:spMkLst>
            <pc:docMk/>
            <pc:sldMk cId="0" sldId="262"/>
            <ac:spMk id="172" creationId="{00000000-0000-0000-0000-000000000000}"/>
          </ac:spMkLst>
        </pc:spChg>
        <pc:picChg chg="add mod">
          <ac:chgData name="Zhuodiao Kuang" userId="88bad50b8b97a805" providerId="LiveId" clId="{594590F9-4A99-475E-95E5-B4346DFE7292}" dt="2025-11-28T14:11:13.956" v="494" actId="1076"/>
          <ac:picMkLst>
            <pc:docMk/>
            <pc:sldMk cId="0" sldId="262"/>
            <ac:picMk id="3" creationId="{23C32682-B92D-8DC6-2F6D-ABCC9ECB3B41}"/>
          </ac:picMkLst>
        </pc:picChg>
        <pc:picChg chg="del">
          <ac:chgData name="Zhuodiao Kuang" userId="88bad50b8b97a805" providerId="LiveId" clId="{594590F9-4A99-475E-95E5-B4346DFE7292}" dt="2025-11-28T14:09:45.550" v="489" actId="478"/>
          <ac:picMkLst>
            <pc:docMk/>
            <pc:sldMk cId="0" sldId="262"/>
            <ac:picMk id="173" creationId="{00000000-0000-0000-0000-000000000000}"/>
          </ac:picMkLst>
        </pc:picChg>
      </pc:sldChg>
      <pc:sldChg chg="modSp mod">
        <pc:chgData name="Zhuodiao Kuang" userId="88bad50b8b97a805" providerId="LiveId" clId="{594590F9-4A99-475E-95E5-B4346DFE7292}" dt="2025-11-28T14:11:40.633" v="497" actId="207"/>
        <pc:sldMkLst>
          <pc:docMk/>
          <pc:sldMk cId="0" sldId="263"/>
        </pc:sldMkLst>
        <pc:spChg chg="mod">
          <ac:chgData name="Zhuodiao Kuang" userId="88bad50b8b97a805" providerId="LiveId" clId="{594590F9-4A99-475E-95E5-B4346DFE7292}" dt="2025-11-28T14:11:40.633" v="497" actId="207"/>
          <ac:spMkLst>
            <pc:docMk/>
            <pc:sldMk cId="0" sldId="263"/>
            <ac:spMk id="180" creationId="{00000000-0000-0000-0000-000000000000}"/>
          </ac:spMkLst>
        </pc:spChg>
      </pc:sldChg>
      <pc:sldChg chg="addSp delSp modSp mod modNotesTx">
        <pc:chgData name="Zhuodiao Kuang" userId="88bad50b8b97a805" providerId="LiveId" clId="{594590F9-4A99-475E-95E5-B4346DFE7292}" dt="2025-11-28T14:32:04.184" v="526" actId="20577"/>
        <pc:sldMkLst>
          <pc:docMk/>
          <pc:sldMk cId="0" sldId="264"/>
        </pc:sldMkLst>
        <pc:spChg chg="mod">
          <ac:chgData name="Zhuodiao Kuang" userId="88bad50b8b97a805" providerId="LiveId" clId="{594590F9-4A99-475E-95E5-B4346DFE7292}" dt="2025-11-28T14:12:12.789" v="502" actId="207"/>
          <ac:spMkLst>
            <pc:docMk/>
            <pc:sldMk cId="0" sldId="264"/>
            <ac:spMk id="191" creationId="{00000000-0000-0000-0000-000000000000}"/>
          </ac:spMkLst>
        </pc:spChg>
        <pc:spChg chg="mod">
          <ac:chgData name="Zhuodiao Kuang" userId="88bad50b8b97a805" providerId="LiveId" clId="{594590F9-4A99-475E-95E5-B4346DFE7292}" dt="2025-11-28T14:22:29.688" v="506" actId="1076"/>
          <ac:spMkLst>
            <pc:docMk/>
            <pc:sldMk cId="0" sldId="264"/>
            <ac:spMk id="192" creationId="{00000000-0000-0000-0000-000000000000}"/>
          </ac:spMkLst>
        </pc:spChg>
        <pc:picChg chg="add mod">
          <ac:chgData name="Zhuodiao Kuang" userId="88bad50b8b97a805" providerId="LiveId" clId="{594590F9-4A99-475E-95E5-B4346DFE7292}" dt="2025-11-28T14:31:56.485" v="523" actId="1076"/>
          <ac:picMkLst>
            <pc:docMk/>
            <pc:sldMk cId="0" sldId="264"/>
            <ac:picMk id="3" creationId="{74E35D1E-B98A-BC88-7266-6C60FAD3BE7A}"/>
          </ac:picMkLst>
        </pc:picChg>
        <pc:picChg chg="del">
          <ac:chgData name="Zhuodiao Kuang" userId="88bad50b8b97a805" providerId="LiveId" clId="{594590F9-4A99-475E-95E5-B4346DFE7292}" dt="2025-11-28T14:20:13.262" v="505" actId="478"/>
          <ac:picMkLst>
            <pc:docMk/>
            <pc:sldMk cId="0" sldId="264"/>
            <ac:picMk id="189" creationId="{00000000-0000-0000-0000-000000000000}"/>
          </ac:picMkLst>
        </pc:picChg>
        <pc:picChg chg="del">
          <ac:chgData name="Zhuodiao Kuang" userId="88bad50b8b97a805" providerId="LiveId" clId="{594590F9-4A99-475E-95E5-B4346DFE7292}" dt="2025-11-28T14:20:12.553" v="504" actId="478"/>
          <ac:picMkLst>
            <pc:docMk/>
            <pc:sldMk cId="0" sldId="264"/>
            <ac:picMk id="193" creationId="{00000000-0000-0000-0000-000000000000}"/>
          </ac:picMkLst>
        </pc:picChg>
      </pc:sldChg>
      <pc:sldChg chg="modSp mod modNotesTx">
        <pc:chgData name="Zhuodiao Kuang" userId="88bad50b8b97a805" providerId="LiveId" clId="{594590F9-4A99-475E-95E5-B4346DFE7292}" dt="2025-11-28T14:35:08.231" v="533" actId="313"/>
        <pc:sldMkLst>
          <pc:docMk/>
          <pc:sldMk cId="0" sldId="265"/>
        </pc:sldMkLst>
        <pc:graphicFrameChg chg="modGraphic">
          <ac:chgData name="Zhuodiao Kuang" userId="88bad50b8b97a805" providerId="LiveId" clId="{594590F9-4A99-475E-95E5-B4346DFE7292}" dt="2025-11-28T14:32:55.424" v="530" actId="207"/>
          <ac:graphicFrameMkLst>
            <pc:docMk/>
            <pc:sldMk cId="0" sldId="265"/>
            <ac:graphicFrameMk id="201" creationId="{00000000-0000-0000-0000-000000000000}"/>
          </ac:graphicFrameMkLst>
        </pc:graphicFrameChg>
      </pc:sldChg>
      <pc:sldChg chg="addSp modSp mod modNotesTx">
        <pc:chgData name="Zhuodiao Kuang" userId="88bad50b8b97a805" providerId="LiveId" clId="{594590F9-4A99-475E-95E5-B4346DFE7292}" dt="2025-11-28T00:02:00.048" v="322" actId="20577"/>
        <pc:sldMkLst>
          <pc:docMk/>
          <pc:sldMk cId="624413589" sldId="268"/>
        </pc:sldMkLst>
        <pc:picChg chg="add mod">
          <ac:chgData name="Zhuodiao Kuang" userId="88bad50b8b97a805" providerId="LiveId" clId="{594590F9-4A99-475E-95E5-B4346DFE7292}" dt="2025-11-27T23:58:10.928" v="63" actId="1076"/>
          <ac:picMkLst>
            <pc:docMk/>
            <pc:sldMk cId="624413589" sldId="268"/>
            <ac:picMk id="2" creationId="{48DC2190-A80E-3D85-A5EC-B90BF90BFD79}"/>
          </ac:picMkLst>
        </pc:picChg>
        <pc:picChg chg="add mod">
          <ac:chgData name="Zhuodiao Kuang" userId="88bad50b8b97a805" providerId="LiveId" clId="{594590F9-4A99-475E-95E5-B4346DFE7292}" dt="2025-11-27T23:58:38.895" v="65" actId="1076"/>
          <ac:picMkLst>
            <pc:docMk/>
            <pc:sldMk cId="624413589" sldId="268"/>
            <ac:picMk id="4" creationId="{6760A204-BEDE-B983-A523-E75E56BB2310}"/>
          </ac:picMkLst>
        </pc:picChg>
      </pc:sldChg>
      <pc:sldChg chg="addSp delSp modSp new mod">
        <pc:chgData name="Zhuodiao Kuang" userId="88bad50b8b97a805" providerId="LiveId" clId="{594590F9-4A99-475E-95E5-B4346DFE7292}" dt="2025-11-28T14:39:23.190" v="537"/>
        <pc:sldMkLst>
          <pc:docMk/>
          <pc:sldMk cId="2026722257" sldId="269"/>
        </pc:sldMkLst>
        <pc:spChg chg="del">
          <ac:chgData name="Zhuodiao Kuang" userId="88bad50b8b97a805" providerId="LiveId" clId="{594590F9-4A99-475E-95E5-B4346DFE7292}" dt="2025-11-28T14:39:00.662" v="535" actId="478"/>
          <ac:spMkLst>
            <pc:docMk/>
            <pc:sldMk cId="2026722257" sldId="269"/>
            <ac:spMk id="2" creationId="{4E58FCAE-892D-D4B6-4069-81A203B4A43D}"/>
          </ac:spMkLst>
        </pc:spChg>
        <pc:spChg chg="del">
          <ac:chgData name="Zhuodiao Kuang" userId="88bad50b8b97a805" providerId="LiveId" clId="{594590F9-4A99-475E-95E5-B4346DFE7292}" dt="2025-11-28T14:39:01.756" v="536" actId="478"/>
          <ac:spMkLst>
            <pc:docMk/>
            <pc:sldMk cId="2026722257" sldId="269"/>
            <ac:spMk id="3" creationId="{8C28EE06-B91A-71B5-E251-CBB8E9F68A35}"/>
          </ac:spMkLst>
        </pc:spChg>
        <pc:picChg chg="add mod">
          <ac:chgData name="Zhuodiao Kuang" userId="88bad50b8b97a805" providerId="LiveId" clId="{594590F9-4A99-475E-95E5-B4346DFE7292}" dt="2025-11-28T14:39:23.190" v="537"/>
          <ac:picMkLst>
            <pc:docMk/>
            <pc:sldMk cId="2026722257" sldId="269"/>
            <ac:picMk id="5" creationId="{C112281C-3809-DEE7-EF95-1911FF9E41C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"The CHIEF Model: A New Era"</a:t>
            </a:r>
            <a:endParaRPr lang="en-US" dirty="0"/>
          </a:p>
          <a:p>
            <a:r>
              <a:rPr lang="en-US" b="1" dirty="0"/>
              <a:t>Opening:</a:t>
            </a:r>
            <a:r>
              <a:rPr lang="en-US" dirty="0"/>
              <a:t> "Good morning/afternoon everyone. Today I want to discuss a paper published in Nature earlier this year regarding the 'CHIEF' model. It stands for </a:t>
            </a:r>
            <a:r>
              <a:rPr lang="en-US" i="1" dirty="0"/>
              <a:t>Clinical Histopathology Imaging Evaluation Foundation</a:t>
            </a:r>
            <a:r>
              <a:rPr lang="en-US" dirty="0"/>
              <a:t>."</a:t>
            </a:r>
          </a:p>
          <a:p>
            <a:r>
              <a:rPr lang="en-US" b="1" dirty="0"/>
              <a:t>The Hook:</a:t>
            </a:r>
            <a:r>
              <a:rPr lang="en-US" dirty="0"/>
              <a:t> “As a survival analysis group, we are used to dealing with clinical tabular data—age, tumor stage, gene expression. We are</a:t>
            </a:r>
            <a:r>
              <a:rPr lang="zh-CN" altLang="en-US" dirty="0"/>
              <a:t> </a:t>
            </a:r>
            <a:r>
              <a:rPr lang="en-US" altLang="zh-CN" dirty="0"/>
              <a:t>also interested in</a:t>
            </a:r>
            <a:r>
              <a:rPr lang="en-US" dirty="0"/>
              <a:t> the actual pathology image. Since I want to make my presentation after </a:t>
            </a:r>
            <a:r>
              <a:rPr lang="en-US" dirty="0" err="1"/>
              <a:t>Haoling</a:t>
            </a:r>
            <a:r>
              <a:rPr lang="en-US" dirty="0"/>
              <a:t> to be logically coherent, and helpful. So, I check whether OCT for eye disease can be regarded as pathology image. The answer is yes. However, it's unstructured and massive."</a:t>
            </a:r>
          </a:p>
          <a:p>
            <a:r>
              <a:rPr lang="en-US" b="1" dirty="0"/>
              <a:t>The Point:</a:t>
            </a:r>
            <a:r>
              <a:rPr lang="en-US" dirty="0"/>
              <a:t> "This presentation isn't just about a new neural network. It's about a methodology to turn gigapixels of image data into a single, robust prognostic covariate that we can plug directly into our Cox Proportional Hazards models. We are going to look at how this 'Foundation Model' approach works and how we can use it."</a:t>
            </a:r>
          </a:p>
          <a:p>
            <a:pPr marL="158750" indent="0">
              <a:buNone/>
            </a:pPr>
            <a:endParaRPr lang="en-US" dirty="0"/>
          </a:p>
        </p:txBody>
      </p:sp>
    </p:spTree>
    <p:extLst>
      <p:ext uri="{BB962C8B-B14F-4D97-AF65-F5344CB8AC3E}">
        <p14:creationId xmlns:p14="http://schemas.microsoft.com/office/powerpoint/2010/main" val="1160535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"The High-Dimensional Covariate"</a:t>
            </a:r>
            <a:endParaRPr lang="en-US" dirty="0"/>
          </a:p>
          <a:p>
            <a:r>
              <a:rPr lang="en-US" b="1" dirty="0"/>
              <a:t>Visual Context:</a:t>
            </a:r>
            <a:r>
              <a:rPr lang="en-US" dirty="0"/>
              <a:t> "On the right, you see a standard pathology slide with a heatmap overlay. A single Whole Slide Image (WSI) can be 100,000 by 100,000 pixels."</a:t>
            </a:r>
          </a:p>
          <a:p>
            <a:r>
              <a:rPr lang="en-US" b="1" dirty="0"/>
              <a:t>The Statistical Hurdle:</a:t>
            </a:r>
            <a:r>
              <a:rPr lang="en-US" dirty="0"/>
              <a:t> "If we treated pixels as covariates, we would have larger number of covariates than the number of samples. We have billions of features (pixels) and maybe only 500 patients (n). Standard regression fails here."</a:t>
            </a:r>
          </a:p>
          <a:p>
            <a:r>
              <a:rPr lang="en-US" b="1" dirty="0"/>
              <a:t>Historical Context:</a:t>
            </a:r>
            <a:r>
              <a:rPr lang="en-US" dirty="0"/>
              <a:t> "In the past, we solved this by manual feature engineering. A pathologist would count mitoses or grade nuclei. We would take those counts—maybe 5 or 6 numbers—and put them in our model. But that throws away 99% of the information."</a:t>
            </a:r>
          </a:p>
          <a:p>
            <a:r>
              <a:rPr lang="en-US" b="1" dirty="0"/>
              <a:t>The Goal:</a:t>
            </a:r>
            <a:r>
              <a:rPr lang="en-US" dirty="0"/>
              <a:t> "We need a mathematical transformation—call it function —that maps this massive image tensor into a low-dimensional vector , where preserves prognostic information. CHIEF is essentially that function ."</a:t>
            </a:r>
          </a:p>
          <a:p>
            <a:pPr marL="0" lvl="0" indent="0" algn="l" rtl="0">
              <a:spcBef>
                <a:spcPts val="0"/>
              </a:spcBef>
              <a:spcAft>
                <a:spcPts val="0"/>
              </a:spcAft>
              <a:buNone/>
            </a:pPr>
            <a:endParaRPr dirty="0"/>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What is a Foundation Model? (5 Minutes)</a:t>
            </a:r>
          </a:p>
          <a:p>
            <a:r>
              <a:rPr lang="en-US" b="1" dirty="0"/>
              <a:t>"Paradigm Shift: Task-Specific vs. Generalist"</a:t>
            </a:r>
            <a:endParaRPr lang="en-US" dirty="0"/>
          </a:p>
          <a:p>
            <a:r>
              <a:rPr lang="en-US" b="1" dirty="0"/>
              <a:t>Definition:</a:t>
            </a:r>
            <a:r>
              <a:rPr lang="en-US" dirty="0"/>
              <a:t> "In Deep Learning, the old paradigm was 'Task-Specific'. If you wanted to predict survival in Lung Cancer, you trained a model </a:t>
            </a:r>
            <a:r>
              <a:rPr lang="en-US" i="1" dirty="0"/>
              <a:t>only</a:t>
            </a:r>
            <a:r>
              <a:rPr lang="en-US" dirty="0"/>
              <a:t> on Lung Cancer images. It was brittle and overfit easily."</a:t>
            </a:r>
          </a:p>
          <a:p>
            <a:r>
              <a:rPr lang="en-US" b="1" dirty="0"/>
              <a:t>The Foundation Concept:</a:t>
            </a:r>
            <a:r>
              <a:rPr lang="en-US" dirty="0"/>
              <a:t> "A Foundation Model is different. It is trained on everything—lung, breast, colon, prostate—simultaneously. It learns the general concept of 'tissue structure', 'abnormality', and 'cellular architecture'."</a:t>
            </a:r>
          </a:p>
          <a:p>
            <a:r>
              <a:rPr lang="en-US" b="1" dirty="0"/>
              <a:t>Analogy:</a:t>
            </a:r>
            <a:r>
              <a:rPr lang="en-US" dirty="0"/>
              <a:t> "Think of it like a pre-med student. They learn general anatomy and biology (Pre-training) before they specialize in oncology (Fine-tuning). Because they have that general foundation, they learn the specialty much faster."</a:t>
            </a:r>
          </a:p>
          <a:p>
            <a:r>
              <a:rPr lang="en-US" b="1" dirty="0"/>
              <a:t>Relevance to Us:</a:t>
            </a:r>
            <a:r>
              <a:rPr lang="en-US" dirty="0"/>
              <a:t> "For us, this means we don't need 10,000 patients to train a survival model anymore. We can take this pre-trained 'brain', extract features from our small cohort of 200 patients, and get statistically significant results."</a:t>
            </a:r>
          </a:p>
          <a:p>
            <a:pPr marL="0" lvl="0" indent="0" algn="l" rtl="0">
              <a:spcBef>
                <a:spcPts val="0"/>
              </a:spcBef>
              <a:spcAft>
                <a:spcPts val="0"/>
              </a:spcAft>
              <a:buNone/>
            </a:pPr>
            <a:endParaRPr dirty="0"/>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"Scale and Weak Supervision"</a:t>
            </a:r>
            <a:endParaRPr lang="en-US" dirty="0"/>
          </a:p>
          <a:p>
            <a:r>
              <a:rPr lang="en-US" b="1" dirty="0"/>
              <a:t>The Data:</a:t>
            </a:r>
            <a:r>
              <a:rPr lang="en-US" dirty="0"/>
              <a:t> "The authors trained this on over 60,000 whole slide images. To put that in perspective, most survival papers in our field use the TCGA dataset, which is about 10,000 slides total. This is 6x larger."</a:t>
            </a:r>
          </a:p>
          <a:p>
            <a:r>
              <a:rPr lang="en-US" b="1" dirty="0"/>
              <a:t>Weak Supervision (Crucial Concept):</a:t>
            </a:r>
            <a:r>
              <a:rPr lang="en-US" dirty="0"/>
              <a:t> "This is the most important technical detail. They did </a:t>
            </a:r>
            <a:r>
              <a:rPr lang="en-US" i="1" dirty="0"/>
              <a:t>not</a:t>
            </a:r>
            <a:r>
              <a:rPr lang="en-US" dirty="0"/>
              <a:t> have pathologists circle every cancer cell. That is 'Strong Supervision' and it's too expensive."</a:t>
            </a:r>
          </a:p>
          <a:p>
            <a:r>
              <a:rPr lang="en-US" b="1" dirty="0"/>
              <a:t>The Approach:</a:t>
            </a:r>
            <a:r>
              <a:rPr lang="en-US" dirty="0"/>
              <a:t> "Instead, they used 'Weak Supervision'. They just told the model: 'This slide is from a Lung Cancer patient.' The model had to figure out </a:t>
            </a:r>
            <a:r>
              <a:rPr lang="en-US" i="1" dirty="0"/>
              <a:t>by itself</a:t>
            </a:r>
            <a:r>
              <a:rPr lang="en-US" dirty="0"/>
              <a:t> which parts of the image made it 'Lung Cancer'. This allows them to scale to datasets where we don't have pixel-level annotations."</a:t>
            </a:r>
          </a:p>
          <a:p>
            <a:pPr marL="0" lvl="0" indent="0" algn="l" rtl="0">
              <a:spcBef>
                <a:spcPts val="0"/>
              </a:spcBef>
              <a:spcAft>
                <a:spcPts val="0"/>
              </a:spcAft>
              <a:buNone/>
            </a:pPr>
            <a:endParaRPr dirty="0"/>
          </a:p>
        </p:txBody>
      </p:sp>
      <p:sp>
        <p:nvSpPr>
          <p:cNvPr id="117" name="Google Shape;11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"The Architecture Pipeline"</a:t>
            </a:r>
            <a:endParaRPr lang="en-US" dirty="0"/>
          </a:p>
          <a:p>
            <a:r>
              <a:rPr lang="en-US" b="1" dirty="0"/>
              <a:t>Walkthrough (Left to Right):</a:t>
            </a:r>
            <a:endParaRPr lang="en-US" dirty="0"/>
          </a:p>
          <a:p>
            <a:pPr lvl="1"/>
            <a:r>
              <a:rPr lang="en-US" b="1" dirty="0"/>
              <a:t>Tiling:</a:t>
            </a:r>
            <a:r>
              <a:rPr lang="en-US" dirty="0"/>
              <a:t> "A slide is too big for GPU memory. We chop it into small squares called patches or tiles (usually 256x256 pixels)."</a:t>
            </a:r>
          </a:p>
          <a:p>
            <a:pPr lvl="1"/>
            <a:r>
              <a:rPr lang="en-US" b="1" dirty="0"/>
              <a:t>Encoder (</a:t>
            </a:r>
            <a:r>
              <a:rPr lang="en-US" b="1" dirty="0" err="1"/>
              <a:t>CTransPath</a:t>
            </a:r>
            <a:r>
              <a:rPr lang="en-US" b="1" dirty="0"/>
              <a:t>):</a:t>
            </a:r>
            <a:r>
              <a:rPr lang="en-US" dirty="0"/>
              <a:t> "Every tile is passed through a smaller neural network (a Transformer). This turns the image patch into a vector of numbers."</a:t>
            </a:r>
          </a:p>
          <a:p>
            <a:pPr lvl="1"/>
            <a:r>
              <a:rPr lang="en-US" b="1" dirty="0"/>
              <a:t>Aggregation:</a:t>
            </a:r>
            <a:r>
              <a:rPr lang="en-US" dirty="0"/>
              <a:t> "Now we have thousands of vectors—a 'bag' of vectors. We need to condense them into one 'Patient Representation'. They use an Attention Mechanism here. The model learns to assign a weight to every tile. Tiles with tumor get high weights; tiles with background fat get low weights."</a:t>
            </a:r>
          </a:p>
          <a:p>
            <a:pPr lvl="1"/>
            <a:r>
              <a:rPr lang="en-US" b="1" dirty="0"/>
              <a:t>Pooling:</a:t>
            </a:r>
            <a:r>
              <a:rPr lang="en-US" dirty="0"/>
              <a:t> "We take the weighted average. This results in one final vector representing the whole patient."</a:t>
            </a:r>
          </a:p>
          <a:p>
            <a:r>
              <a:rPr lang="en-US" b="1" dirty="0"/>
              <a:t>Output:</a:t>
            </a:r>
            <a:r>
              <a:rPr lang="en-US" dirty="0"/>
              <a:t> "This final vector is what we care about. It effectively summarizes the patient's entire biological visual state."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use tiling because </a:t>
            </a:r>
            <a:r>
              <a:rPr lang="en-US" b="1" dirty="0"/>
              <a:t>(1)</a:t>
            </a:r>
            <a:r>
              <a:rPr lang="en-US" dirty="0"/>
              <a:t> whole slides are too big for GPU memory, and </a:t>
            </a:r>
            <a:r>
              <a:rPr lang="en-US" b="1" dirty="0"/>
              <a:t>(2)</a:t>
            </a:r>
            <a:r>
              <a:rPr lang="en-US" dirty="0"/>
              <a:t> resizing the image would destroy the cellular-level details (mitosis, nuclear grade) that are critical for predicting patient survival.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 may ask: the final input is an image, and the final output is a survival prediction. So why do we need text?</a:t>
            </a:r>
          </a:p>
          <a:p>
            <a:r>
              <a:rPr lang="en-US" dirty="0"/>
              <a:t>Imagine you are teaching a medical student (the </a:t>
            </a:r>
            <a:r>
              <a:rPr lang="en-US" b="1" dirty="0"/>
              <a:t>Image Model</a:t>
            </a:r>
            <a:r>
              <a:rPr lang="en-US" dirty="0"/>
              <a:t>) how to spot cancer.</a:t>
            </a:r>
          </a:p>
          <a:p>
            <a:r>
              <a:rPr lang="en-US" b="1" dirty="0"/>
              <a:t>Without Text:</a:t>
            </a:r>
            <a:r>
              <a:rPr lang="en-US" dirty="0"/>
              <a:t> You just show them slides and say "Bad" or "Good" (Labels 0 or 1). The student learns to guess, but doesn't understand </a:t>
            </a:r>
            <a:r>
              <a:rPr lang="en-US" i="1" dirty="0"/>
              <a:t>why</a:t>
            </a:r>
            <a:r>
              <a:rPr lang="en-US" dirty="0"/>
              <a:t>.</a:t>
            </a:r>
          </a:p>
          <a:p>
            <a:r>
              <a:rPr lang="en-US" b="1" dirty="0"/>
              <a:t>With Text:</a:t>
            </a:r>
            <a:r>
              <a:rPr lang="en-US" dirty="0"/>
              <a:t> You show them a slide and say, </a:t>
            </a:r>
            <a:r>
              <a:rPr lang="en-US" i="1" dirty="0"/>
              <a:t>"This is invasive ductal carcinoma with high nuclear grade."</a:t>
            </a:r>
            <a:r>
              <a:rPr lang="en-US" dirty="0"/>
              <a:t> (This is the </a:t>
            </a:r>
            <a:r>
              <a:rPr lang="en-US" b="1" dirty="0"/>
              <a:t>Text Encoder</a:t>
            </a:r>
            <a:r>
              <a:rPr lang="en-US" dirty="0"/>
              <a:t> output).</a:t>
            </a:r>
          </a:p>
          <a:p>
            <a:r>
              <a:rPr lang="en-US" dirty="0"/>
              <a:t>The </a:t>
            </a:r>
            <a:r>
              <a:rPr lang="en-US" b="1" dirty="0"/>
              <a:t>Text Encoder</a:t>
            </a:r>
            <a:r>
              <a:rPr lang="en-US" dirty="0"/>
              <a:t> acts as the "Teacher." It has already read all the medical textbooks (pre-trained on PubMed). It guides the Image Model to look for specific features that match the medical definition of cancer.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use the text encoder during training to </a:t>
            </a:r>
            <a:r>
              <a:rPr lang="en-US" b="1" dirty="0"/>
              <a:t>structure</a:t>
            </a:r>
            <a:r>
              <a:rPr lang="en-US" dirty="0"/>
              <a:t> the image features. Once the image model learns that structure, the text encoder is redundant. Discarding it makes the model faster and allows us to make predictions based </a:t>
            </a:r>
            <a:r>
              <a:rPr lang="en-US" b="1" dirty="0"/>
              <a:t>solely on the patient's biological tissue</a:t>
            </a:r>
            <a:r>
              <a:rPr lang="en-US" dirty="0"/>
              <a:t>, without relying on external pathologist reports.</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"From Pixels to Hazard Ratios"</a:t>
            </a:r>
            <a:endParaRPr lang="en-US" dirty="0"/>
          </a:p>
          <a:p>
            <a:r>
              <a:rPr lang="en-US" b="1" dirty="0"/>
              <a:t>The Math:</a:t>
            </a:r>
            <a:r>
              <a:rPr lang="en-US" dirty="0"/>
              <a:t> "Let's look at the formula on the right. This should look familiar. It's the proportional hazards assumption."</a:t>
            </a:r>
          </a:p>
          <a:p>
            <a:pPr lvl="1"/>
            <a:r>
              <a:rPr lang="en-US" dirty="0"/>
              <a:t>is our baseline hazard.</a:t>
            </a:r>
          </a:p>
          <a:p>
            <a:pPr lvl="1"/>
            <a:r>
              <a:rPr lang="en-US" dirty="0"/>
              <a:t>Usually, the exponent contains (Age, Sex, etc.).</a:t>
            </a:r>
          </a:p>
          <a:p>
            <a:r>
              <a:rPr lang="en-US" b="1" dirty="0"/>
              <a:t>The Substitution:</a:t>
            </a:r>
            <a:r>
              <a:rPr lang="en-US" dirty="0"/>
              <a:t> "Here, they replace the linear combination of clinical covariates with . The neural network </a:t>
            </a:r>
            <a:r>
              <a:rPr lang="en-US" i="1" dirty="0"/>
              <a:t>outputs</a:t>
            </a:r>
            <a:r>
              <a:rPr lang="en-US" dirty="0"/>
              <a:t> the log-risk."</a:t>
            </a:r>
          </a:p>
          <a:p>
            <a:r>
              <a:rPr lang="en-US" b="1" dirty="0"/>
              <a:t>Loss Function:</a:t>
            </a:r>
            <a:r>
              <a:rPr lang="en-US" dirty="0"/>
              <a:t> "They train this using a differentiable version of the Concordance Index (C-Index) or the Cox Partial Likelihood loss. The model adjusts its weights to maximize the likelihood of the observed ordering of events."</a:t>
            </a:r>
          </a:p>
          <a:p>
            <a:r>
              <a:rPr lang="en-US" b="1" dirty="0"/>
              <a:t>Key Takeaway:</a:t>
            </a:r>
            <a:r>
              <a:rPr lang="en-US" dirty="0"/>
              <a:t> "The model is explicitly optimizing for ranking patients correctly by survival time, handling censorship just like a standard Cox model does."</a:t>
            </a:r>
          </a:p>
          <a:p>
            <a:pPr marL="0" lvl="0" indent="0" algn="l" rtl="0">
              <a:spcBef>
                <a:spcPts val="0"/>
              </a:spcBef>
              <a:spcAft>
                <a:spcPts val="0"/>
              </a:spcAft>
              <a:buNone/>
            </a:pPr>
            <a:endParaRPr dirty="0"/>
          </a:p>
        </p:txBody>
      </p:sp>
      <p:sp>
        <p:nvSpPr>
          <p:cNvPr id="154" name="Google Shape;15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"Opening the Black Box"</a:t>
            </a:r>
            <a:endParaRPr lang="en-US" dirty="0"/>
          </a:p>
          <a:p>
            <a:r>
              <a:rPr lang="en-US" b="1" dirty="0"/>
              <a:t>The Critique:</a:t>
            </a:r>
            <a:r>
              <a:rPr lang="en-US" dirty="0"/>
              <a:t> "Reviewers always ask: 'The model predicts high risk, but </a:t>
            </a:r>
            <a:r>
              <a:rPr lang="en-US" i="1" dirty="0"/>
              <a:t>why</a:t>
            </a:r>
            <a:r>
              <a:rPr lang="en-US" dirty="0"/>
              <a:t>?'"</a:t>
            </a:r>
          </a:p>
          <a:p>
            <a:r>
              <a:rPr lang="en-US" b="1" dirty="0"/>
              <a:t>The Solution (Attention Maps):</a:t>
            </a:r>
            <a:r>
              <a:rPr lang="en-US" dirty="0"/>
              <a:t> "Because of the aggregation step I mentioned earlier, we can extract the attention weights. We can overlay these weights back onto the original image."</a:t>
            </a:r>
          </a:p>
          <a:p>
            <a:r>
              <a:rPr lang="en-US" b="1" dirty="0"/>
              <a:t>The finding:</a:t>
            </a:r>
            <a:r>
              <a:rPr lang="en-US" dirty="0"/>
              <a:t> "Look at the image on the right. The red areas are where the model is 'looking'. Interestingly, for prognosis, it often looks at the </a:t>
            </a:r>
            <a:r>
              <a:rPr lang="en-US" b="1" dirty="0"/>
              <a:t>stroma</a:t>
            </a:r>
            <a:r>
              <a:rPr lang="en-US" dirty="0"/>
              <a:t> (the tissue surrounding the tumor) and immune infiltration, not just the tumor cells themselves. It is picking up on the tumor microenvironment."</a:t>
            </a:r>
          </a:p>
          <a:p>
            <a:pPr marL="0" lvl="0" indent="0" algn="l" rtl="0">
              <a:spcBef>
                <a:spcPts val="0"/>
              </a:spcBef>
              <a:spcAft>
                <a:spcPts val="0"/>
              </a:spcAft>
              <a:buNone/>
            </a:pPr>
            <a:endParaRPr dirty="0"/>
          </a:p>
        </p:txBody>
      </p:sp>
      <p:sp>
        <p:nvSpPr>
          <p:cNvPr id="166" name="Google Shape;16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"Benchmarking C-Index"</a:t>
            </a:r>
            <a:endParaRPr lang="en-US" dirty="0"/>
          </a:p>
          <a:p>
            <a:r>
              <a:rPr lang="en-US" b="1" dirty="0"/>
              <a:t>The Baseline:</a:t>
            </a:r>
            <a:r>
              <a:rPr lang="en-US" dirty="0"/>
              <a:t> "Standard Cox models using just clinical data (Stage, Age) usually achieve a C-index around 0.55 to 0.65 in complex cancers. It's better than random (0.5), but not great."</a:t>
            </a:r>
          </a:p>
          <a:p>
            <a:r>
              <a:rPr lang="en-US" b="1" dirty="0"/>
              <a:t>The Competition:</a:t>
            </a:r>
            <a:r>
              <a:rPr lang="en-US" dirty="0"/>
              <a:t> "DSMIL was the previous state-of-the-art deep learning model. It hit around 0.67."</a:t>
            </a:r>
          </a:p>
          <a:p>
            <a:r>
              <a:rPr lang="en-US" b="1" dirty="0"/>
              <a:t>CHIEF:</a:t>
            </a:r>
            <a:r>
              <a:rPr lang="en-US" dirty="0"/>
              <a:t> "CHIEF jumps to nearly 0.80. In survival analysis, a jump of 0.10 in C-index is massive. It turns a 'statistically significant' result into a 'clinically useful' tool."</a:t>
            </a:r>
          </a:p>
          <a:p>
            <a:pPr marL="0" lvl="0" indent="0" algn="l" rtl="0">
              <a:spcBef>
                <a:spcPts val="0"/>
              </a:spcBef>
              <a:spcAft>
                <a:spcPts val="0"/>
              </a:spcAft>
              <a:buNone/>
            </a:pPr>
            <a:endParaRPr dirty="0"/>
          </a:p>
        </p:txBody>
      </p:sp>
      <p:sp>
        <p:nvSpPr>
          <p:cNvPr id="176" name="Google Shape;17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"Kaplan-Meier Analysis"</a:t>
            </a:r>
            <a:endParaRPr lang="en-US" dirty="0"/>
          </a:p>
          <a:p>
            <a:r>
              <a:rPr lang="en-US" b="1" dirty="0"/>
              <a:t>The Procedure:</a:t>
            </a:r>
            <a:r>
              <a:rPr lang="en-US" dirty="0"/>
              <a:t> "After the model predicts a risk score for every patient in the test set, they split the cohort at the median score (High Risk vs. Low Risk)."</a:t>
            </a:r>
          </a:p>
          <a:p>
            <a:r>
              <a:rPr lang="en-US" b="1" dirty="0"/>
              <a:t>The Result:</a:t>
            </a:r>
            <a:r>
              <a:rPr lang="en-US" dirty="0"/>
              <a:t> "The KM curves separate beautifully. The Log-Rank p-value is extremely low ()."</a:t>
            </a:r>
          </a:p>
          <a:p>
            <a:r>
              <a:rPr lang="en-US" b="1" dirty="0"/>
              <a:t>Multivariate Analysis:</a:t>
            </a:r>
            <a:r>
              <a:rPr lang="en-US" dirty="0"/>
              <a:t> "Crucially, when they put the 'CHIEF Score' into a multivariate Cox model alongside Tumor Stage and Grade, the CHIEF Score remains significant. This implies the image contains </a:t>
            </a:r>
            <a:r>
              <a:rPr lang="en-US" i="1" dirty="0"/>
              <a:t>independent</a:t>
            </a:r>
            <a:r>
              <a:rPr lang="en-US" dirty="0"/>
              <a:t> prognostic information that is not captured by TNM staging.“ "Held-out" data is data that the model </a:t>
            </a:r>
            <a:r>
              <a:rPr lang="en-US" b="1" dirty="0"/>
              <a:t>never saw</a:t>
            </a:r>
            <a:r>
              <a:rPr lang="en-US" dirty="0"/>
              <a:t> during the training process.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r>
              <a:rPr lang="en-US" sz="1100" b="1" i="0" u="none" strike="noStrike" cap="none" dirty="0">
                <a:solidFill>
                  <a:srgbClr val="000000"/>
                </a:solidFill>
                <a:effectLst/>
                <a:latin typeface="Arial"/>
                <a:ea typeface="Arial"/>
                <a:cs typeface="Arial"/>
                <a:sym typeface="Arial"/>
              </a:rPr>
              <a:t>2. What Actually Happened (Independence)</a:t>
            </a:r>
          </a:p>
          <a:p>
            <a:r>
              <a:rPr lang="en-US" sz="1100" b="0" i="0" u="none" strike="noStrike" cap="none" dirty="0">
                <a:solidFill>
                  <a:srgbClr val="000000"/>
                </a:solidFill>
                <a:effectLst/>
                <a:latin typeface="Arial"/>
                <a:ea typeface="Arial"/>
                <a:cs typeface="Arial"/>
                <a:sym typeface="Arial"/>
              </a:rPr>
              <a:t>When the authors combined them in a Multivariate Cox Model:</a:t>
            </a:r>
          </a:p>
          <a:p>
            <a:r>
              <a:rPr lang="en-US" sz="1100" b="0" i="0" u="none" strike="noStrike" cap="none" dirty="0">
                <a:solidFill>
                  <a:srgbClr val="000000"/>
                </a:solidFill>
                <a:effectLst/>
                <a:latin typeface="Arial"/>
                <a:ea typeface="Arial"/>
                <a:cs typeface="Arial"/>
                <a:sym typeface="Arial"/>
              </a:rPr>
              <a:t>$$h(t) = h_0(t) \exp(\beta_1 \</a:t>
            </a:r>
            <a:r>
              <a:rPr lang="en-US" sz="1100" b="0" i="0" u="none" strike="noStrike" cap="none" dirty="0" err="1">
                <a:solidFill>
                  <a:srgbClr val="000000"/>
                </a:solidFill>
                <a:effectLst/>
                <a:latin typeface="Arial"/>
                <a:ea typeface="Arial"/>
                <a:cs typeface="Arial"/>
                <a:sym typeface="Arial"/>
              </a:rPr>
              <a:t>cdot</a:t>
            </a:r>
            <a:r>
              <a:rPr lang="en-US" sz="1100" b="0" i="0" u="none" strike="noStrike" cap="none" dirty="0">
                <a:solidFill>
                  <a:srgbClr val="000000"/>
                </a:solidFill>
                <a:effectLst/>
                <a:latin typeface="Arial"/>
                <a:ea typeface="Arial"/>
                <a:cs typeface="Arial"/>
                <a:sym typeface="Arial"/>
              </a:rPr>
              <a:t> \text{Stage} + \beta_2 \</a:t>
            </a:r>
            <a:r>
              <a:rPr lang="en-US" sz="1100" b="0" i="0" u="none" strike="noStrike" cap="none" dirty="0" err="1">
                <a:solidFill>
                  <a:srgbClr val="000000"/>
                </a:solidFill>
                <a:effectLst/>
                <a:latin typeface="Arial"/>
                <a:ea typeface="Arial"/>
                <a:cs typeface="Arial"/>
                <a:sym typeface="Arial"/>
              </a:rPr>
              <a:t>cdot</a:t>
            </a:r>
            <a:r>
              <a:rPr lang="en-US" sz="1100" b="0" i="0" u="none" strike="noStrike" cap="none" dirty="0">
                <a:solidFill>
                  <a:srgbClr val="000000"/>
                </a:solidFill>
                <a:effectLst/>
                <a:latin typeface="Arial"/>
                <a:ea typeface="Arial"/>
                <a:cs typeface="Arial"/>
                <a:sym typeface="Arial"/>
              </a:rPr>
              <a:t> \text{CHIEF})$$</a:t>
            </a:r>
          </a:p>
          <a:p>
            <a:r>
              <a:rPr lang="en-US" sz="1100" b="0" i="0" u="none" strike="noStrike" cap="none" dirty="0">
                <a:solidFill>
                  <a:srgbClr val="000000"/>
                </a:solidFill>
                <a:effectLst/>
                <a:latin typeface="Arial"/>
                <a:ea typeface="Arial"/>
                <a:cs typeface="Arial"/>
                <a:sym typeface="Arial"/>
              </a:rPr>
              <a:t>Both $\beta_1$ (Stage) AND $\beta_2$ (CHIEF) remained statistically significant.</a:t>
            </a:r>
          </a:p>
          <a:p>
            <a:r>
              <a:rPr lang="en-US" sz="1100" b="1" i="0" u="none" strike="noStrike" cap="none" dirty="0">
                <a:solidFill>
                  <a:srgbClr val="000000"/>
                </a:solidFill>
                <a:effectLst/>
                <a:latin typeface="Arial"/>
                <a:ea typeface="Arial"/>
                <a:cs typeface="Arial"/>
                <a:sym typeface="Arial"/>
              </a:rPr>
              <a:t>The Meaning:</a:t>
            </a:r>
            <a:r>
              <a:rPr lang="en-US" sz="1100" b="0" i="0" u="none" strike="noStrike" cap="none" dirty="0">
                <a:solidFill>
                  <a:srgbClr val="000000"/>
                </a:solidFill>
                <a:effectLst/>
                <a:latin typeface="Arial"/>
                <a:ea typeface="Arial"/>
                <a:cs typeface="Arial"/>
                <a:sym typeface="Arial"/>
              </a:rPr>
              <a:t> This proves that CHIEF is measuring something </a:t>
            </a:r>
            <a:r>
              <a:rPr lang="en-US" sz="1100" b="1" i="0" u="none" strike="noStrike" cap="none" dirty="0">
                <a:solidFill>
                  <a:srgbClr val="000000"/>
                </a:solidFill>
                <a:effectLst/>
                <a:latin typeface="Arial"/>
                <a:ea typeface="Arial"/>
                <a:cs typeface="Arial"/>
                <a:sym typeface="Arial"/>
              </a:rPr>
              <a:t>different</a:t>
            </a:r>
            <a:r>
              <a:rPr lang="en-US" sz="1100" b="0" i="0" u="none" strike="noStrike" cap="none" dirty="0">
                <a:solidFill>
                  <a:srgbClr val="000000"/>
                </a:solidFill>
                <a:effectLst/>
                <a:latin typeface="Arial"/>
                <a:ea typeface="Arial"/>
                <a:cs typeface="Arial"/>
                <a:sym typeface="Arial"/>
              </a:rPr>
              <a:t> than Stage.</a:t>
            </a:r>
          </a:p>
          <a:p>
            <a:r>
              <a:rPr lang="en-US" sz="1100" b="1" i="0" u="none" strike="noStrike" cap="none" dirty="0">
                <a:solidFill>
                  <a:srgbClr val="000000"/>
                </a:solidFill>
                <a:effectLst/>
                <a:latin typeface="Arial"/>
                <a:ea typeface="Arial"/>
                <a:cs typeface="Arial"/>
                <a:sym typeface="Arial"/>
              </a:rPr>
              <a:t>The Implication:</a:t>
            </a:r>
            <a:r>
              <a:rPr lang="en-US" sz="1100" b="0" i="0" u="none" strike="noStrike" cap="none" dirty="0">
                <a:solidFill>
                  <a:srgbClr val="000000"/>
                </a:solidFill>
                <a:effectLst/>
                <a:latin typeface="Arial"/>
                <a:ea typeface="Arial"/>
                <a:cs typeface="Arial"/>
                <a:sym typeface="Arial"/>
              </a:rPr>
              <a:t> Even if two patients have the </a:t>
            </a:r>
            <a:r>
              <a:rPr lang="en-US" sz="1100" b="0" i="1" u="none" strike="noStrike" cap="none" dirty="0">
                <a:solidFill>
                  <a:srgbClr val="000000"/>
                </a:solidFill>
                <a:effectLst/>
                <a:latin typeface="Arial"/>
                <a:ea typeface="Arial"/>
                <a:cs typeface="Arial"/>
                <a:sym typeface="Arial"/>
              </a:rPr>
              <a:t>exact same</a:t>
            </a:r>
            <a:r>
              <a:rPr lang="en-US" sz="1100" b="0" i="0" u="none" strike="noStrike" cap="none" dirty="0">
                <a:solidFill>
                  <a:srgbClr val="000000"/>
                </a:solidFill>
                <a:effectLst/>
                <a:latin typeface="Arial"/>
                <a:ea typeface="Arial"/>
                <a:cs typeface="Arial"/>
                <a:sym typeface="Arial"/>
              </a:rPr>
              <a:t> tumor stage (e.g., both Stage II), the CHIEF model can still distinguish who will survive longer based on visual patterns (like immune infiltration or stromal texture) that the staging system ignores.</a:t>
            </a:r>
          </a:p>
          <a:p>
            <a:endParaRPr lang="en-US" sz="1100" b="0" i="0" u="none" strike="noStrike" cap="none" dirty="0">
              <a:solidFill>
                <a:srgbClr val="000000"/>
              </a:solidFill>
              <a:effectLst/>
              <a:latin typeface="Arial"/>
              <a:ea typeface="Arial"/>
              <a:cs typeface="Arial"/>
              <a:sym typeface="Arial"/>
            </a:endParaRPr>
          </a:p>
          <a:p>
            <a:r>
              <a:rPr lang="en-US" b="1" dirty="0"/>
              <a:t>3. Why this is "Crucial"</a:t>
            </a:r>
          </a:p>
          <a:p>
            <a:r>
              <a:rPr lang="en-US" dirty="0"/>
              <a:t>If CHIEF wasn't independent, it would be scientifically interesting but clinically useless. Doctors would say, </a:t>
            </a:r>
            <a:r>
              <a:rPr lang="en-US" i="1" dirty="0"/>
              <a:t>"Why run this complex AI model if I can just look at the Stage?"</a:t>
            </a:r>
            <a:endParaRPr lang="en-US" dirty="0"/>
          </a:p>
          <a:p>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186" name="Google Shape;18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"Why Foundation Models Win"</a:t>
            </a:r>
            <a:endParaRPr lang="en-US" dirty="0"/>
          </a:p>
          <a:p>
            <a:r>
              <a:rPr lang="en-US" b="1" dirty="0"/>
              <a:t>Summary:</a:t>
            </a:r>
            <a:r>
              <a:rPr lang="en-US" dirty="0"/>
              <a:t> "To summarize the shift in our field: We are moving from small, manually annotated datasets to massive, weakly supervised ones."</a:t>
            </a:r>
          </a:p>
          <a:p>
            <a:r>
              <a:rPr lang="en-US" b="1" dirty="0"/>
              <a:t>Context:</a:t>
            </a:r>
            <a:r>
              <a:rPr lang="en-US" dirty="0"/>
              <a:t> "The 'Global Context' row is vital. A standard CNN looks at a small patch and asks 'Is this cancer?'. CHIEF looks at the whole slide and asks 'How aggressive is this cancer structure relative to the surrounding tissue?’”</a:t>
            </a:r>
          </a:p>
          <a:p>
            <a:pPr marL="0" lvl="0" indent="0" algn="l" rtl="0">
              <a:spcBef>
                <a:spcPts val="0"/>
              </a:spcBef>
              <a:spcAft>
                <a:spcPts val="0"/>
              </a:spcAft>
              <a:buNone/>
            </a:pPr>
            <a:endParaRPr lang="en-US" dirty="0"/>
          </a:p>
          <a:p>
            <a:r>
              <a:rPr lang="en-US" b="1" dirty="0"/>
              <a:t>ROI</a:t>
            </a:r>
            <a:r>
              <a:rPr lang="en-US" dirty="0"/>
              <a:t> stands for </a:t>
            </a:r>
            <a:r>
              <a:rPr lang="en-US" b="1" dirty="0"/>
              <a:t>Region of Interest</a:t>
            </a:r>
            <a:r>
              <a:rPr lang="en-US" dirty="0"/>
              <a:t>.</a:t>
            </a:r>
          </a:p>
          <a:p>
            <a:r>
              <a:rPr lang="en-US" dirty="0"/>
              <a:t>In the context of digital pathology and this presentation (specifically Slide 4 and Slide 10), an </a:t>
            </a:r>
            <a:r>
              <a:rPr lang="en-US" b="1" dirty="0"/>
              <a:t>ROI Mask</a:t>
            </a:r>
            <a:r>
              <a:rPr lang="en-US" dirty="0"/>
              <a:t> refers to a </a:t>
            </a:r>
            <a:r>
              <a:rPr lang="en-US" b="1" dirty="0"/>
              <a:t>pixel-level annotation</a:t>
            </a:r>
            <a:r>
              <a:rPr lang="en-US" dirty="0"/>
              <a:t> created by a human expert.</a:t>
            </a:r>
          </a:p>
          <a:p>
            <a:pPr marL="0" lvl="0" indent="0" algn="l" rtl="0">
              <a:spcBef>
                <a:spcPts val="0"/>
              </a:spcBef>
              <a:spcAft>
                <a:spcPts val="0"/>
              </a:spcAft>
              <a:buNone/>
            </a:pPr>
            <a:endParaRPr dirty="0"/>
          </a:p>
        </p:txBody>
      </p:sp>
      <p:sp>
        <p:nvSpPr>
          <p:cNvPr id="198" name="Google Shape;19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"Practical Next Steps"</a:t>
            </a:r>
            <a:endParaRPr lang="en-US" dirty="0"/>
          </a:p>
          <a:p>
            <a:r>
              <a:rPr lang="en-US" b="1" dirty="0"/>
              <a:t>Action Plan:</a:t>
            </a:r>
            <a:r>
              <a:rPr lang="en-US" dirty="0"/>
              <a:t> "So, how do we use this? We don't need 60,000 slides. We can use the pre-trained weights."</a:t>
            </a:r>
          </a:p>
          <a:p>
            <a:r>
              <a:rPr lang="en-US" b="1" dirty="0"/>
              <a:t>Workflow:</a:t>
            </a:r>
            <a:endParaRPr lang="en-US" dirty="0"/>
          </a:p>
          <a:p>
            <a:pPr lvl="1"/>
            <a:r>
              <a:rPr lang="en-US" dirty="0"/>
              <a:t>Take our current dataset (e.g., our 300 immunotherapy patients).</a:t>
            </a:r>
          </a:p>
          <a:p>
            <a:pPr lvl="1"/>
            <a:r>
              <a:rPr lang="en-US" dirty="0"/>
              <a:t>Run the slides through CHIEF to get the "feature embeddings" (the vector representation).</a:t>
            </a:r>
          </a:p>
          <a:p>
            <a:pPr lvl="1"/>
            <a:r>
              <a:rPr lang="en-US" dirty="0"/>
              <a:t>Export these vectors to a CSV file.</a:t>
            </a:r>
          </a:p>
          <a:p>
            <a:pPr lvl="1"/>
            <a:r>
              <a:rPr lang="en-US" dirty="0"/>
              <a:t>Load that CSV into R or Python (lifelines/survival package).</a:t>
            </a:r>
          </a:p>
          <a:p>
            <a:pPr lvl="1"/>
            <a:r>
              <a:rPr lang="en-US" dirty="0"/>
              <a:t>Regress survival time against these vectors + clinical variables.</a:t>
            </a:r>
          </a:p>
          <a:p>
            <a:r>
              <a:rPr lang="en-US" b="1" dirty="0"/>
              <a:t>Value:</a:t>
            </a:r>
            <a:r>
              <a:rPr lang="en-US" dirty="0"/>
              <a:t> "This gives us a high-tech 'image signature' variable for our existing projects with very little overhead."</a:t>
            </a:r>
          </a:p>
          <a:p>
            <a:pPr marL="0" lvl="0" indent="0" algn="l" rtl="0">
              <a:spcBef>
                <a:spcPts val="0"/>
              </a:spcBef>
              <a:spcAft>
                <a:spcPts val="0"/>
              </a:spcAft>
              <a:buNone/>
            </a:pPr>
            <a:endParaRPr dirty="0"/>
          </a:p>
        </p:txBody>
      </p:sp>
      <p:sp>
        <p:nvSpPr>
          <p:cNvPr id="218" name="Google Shape;21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pretrained CHIEF in a weakly supervised manner using 60,530 WSIs representing 19 anatomical sites. During the pretraining process, we cropped the WSIs into non-overlapping imaging tiles, and we encoded the anatomic site information of each WSI using the contrastive language–image pretraining (CLIP) embedding method to obtain a feature vector for each anatomic site. We merged the text and image embeddings to represent the heterogeneous pathology information from the training data. We then used the pathology imaging features extracted by CHIEF to infer cancer types directly. </a:t>
            </a:r>
          </a:p>
        </p:txBody>
      </p:sp>
    </p:spTree>
    <p:extLst>
      <p:ext uri="{BB962C8B-B14F-4D97-AF65-F5344CB8AC3E}">
        <p14:creationId xmlns:p14="http://schemas.microsoft.com/office/powerpoint/2010/main" val="3240128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b="1" dirty="0"/>
              <a:t>"Q&amp;A"</a:t>
            </a:r>
            <a:endParaRPr lang="en-US" dirty="0"/>
          </a:p>
          <a:p>
            <a:r>
              <a:rPr lang="en-US" b="1" dirty="0"/>
              <a:t>Prompt for Discussion:</a:t>
            </a:r>
            <a:r>
              <a:rPr lang="en-US" dirty="0"/>
              <a:t> "I'd like to open it up. Do we think this image signature is a surrogate for something biological we already know (like genomic instability), or is it something entirely new?"</a:t>
            </a:r>
          </a:p>
          <a:p>
            <a:r>
              <a:rPr lang="en-US" b="1" dirty="0"/>
              <a:t>Potential Critique points to be ready for:</a:t>
            </a:r>
            <a:endParaRPr lang="en-US" dirty="0"/>
          </a:p>
          <a:p>
            <a:pPr lvl="1"/>
            <a:r>
              <a:rPr lang="en-US" i="1" dirty="0"/>
              <a:t>Domain Shift:</a:t>
            </a:r>
            <a:r>
              <a:rPr lang="en-US" dirty="0"/>
              <a:t> Will this work if our scanner is different from the training scanners? (CHIEF is designed to be robust to this, but it's a valid concern).</a:t>
            </a:r>
          </a:p>
          <a:p>
            <a:pPr lvl="1"/>
            <a:r>
              <a:rPr lang="en-US" i="1"/>
              <a:t>Computational Cost:</a:t>
            </a:r>
            <a:r>
              <a:rPr lang="en-US"/>
              <a:t> Processing WSIs requires GPUs, though inference is faster than training.</a:t>
            </a:r>
          </a:p>
          <a:p>
            <a:pPr marL="0" lvl="0" indent="0" algn="l" rtl="0">
              <a:spcBef>
                <a:spcPts val="0"/>
              </a:spcBef>
              <a:spcAft>
                <a:spcPts val="0"/>
              </a:spcAft>
              <a:buNone/>
            </a:pPr>
            <a:endParaRPr/>
          </a:p>
        </p:txBody>
      </p:sp>
      <p:sp>
        <p:nvSpPr>
          <p:cNvPr id="237" name="Google Shape;237;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43.153.32.31/#/" TargetMode="Externa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5.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85" name="Google Shape;85;p13"/>
          <p:cNvSpPr txBox="1"/>
          <p:nvPr/>
        </p:nvSpPr>
        <p:spPr>
          <a:xfrm>
            <a:off x="2130504" y="1993701"/>
            <a:ext cx="7930991" cy="67047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38BDF8"/>
                </a:solidFill>
                <a:latin typeface="Roboto Mono"/>
                <a:ea typeface="Roboto Mono"/>
                <a:cs typeface="Roboto Mono"/>
                <a:sym typeface="Roboto Mono"/>
              </a:rPr>
              <a:t>The "CHIEF" Model</a:t>
            </a:r>
            <a:endParaRPr/>
          </a:p>
        </p:txBody>
      </p:sp>
      <p:sp>
        <p:nvSpPr>
          <p:cNvPr id="86" name="Google Shape;86;p13"/>
          <p:cNvSpPr txBox="1"/>
          <p:nvPr/>
        </p:nvSpPr>
        <p:spPr>
          <a:xfrm>
            <a:off x="2130504" y="3273772"/>
            <a:ext cx="7930991" cy="266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FFFFFF"/>
                </a:solidFill>
                <a:latin typeface="Work Sans"/>
                <a:ea typeface="Work Sans"/>
                <a:cs typeface="Work Sans"/>
                <a:sym typeface="Work Sans"/>
              </a:rPr>
              <a:t>A New Era for Survival Analysis in Pathology</a:t>
            </a:r>
            <a:endParaRPr/>
          </a:p>
        </p:txBody>
      </p:sp>
      <p:sp>
        <p:nvSpPr>
          <p:cNvPr id="87" name="Google Shape;87;p13"/>
          <p:cNvSpPr txBox="1"/>
          <p:nvPr/>
        </p:nvSpPr>
        <p:spPr>
          <a:xfrm>
            <a:off x="2319337" y="3730972"/>
            <a:ext cx="7553325" cy="443198"/>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solidFill>
                  <a:schemeClr val="bg1"/>
                </a:solidFill>
                <a:latin typeface="Work Sans"/>
                <a:ea typeface="Work Sans"/>
                <a:cs typeface="Work Sans"/>
                <a:sym typeface="Work Sans"/>
              </a:rPr>
              <a:t>Leveraging Weakly Supervised Foundation Models for Prognosis</a:t>
            </a:r>
            <a:endParaRPr dirty="0">
              <a:solidFill>
                <a:schemeClr val="bg1"/>
              </a:solidFill>
            </a:endParaRPr>
          </a:p>
        </p:txBody>
      </p:sp>
      <p:sp>
        <p:nvSpPr>
          <p:cNvPr id="88" name="Google Shape;88;p13"/>
          <p:cNvSpPr txBox="1"/>
          <p:nvPr/>
        </p:nvSpPr>
        <p:spPr>
          <a:xfrm>
            <a:off x="2319337" y="4477642"/>
            <a:ext cx="7553325" cy="59093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dirty="0">
                <a:solidFill>
                  <a:schemeClr val="bg1"/>
                </a:solidFill>
                <a:latin typeface="Work Sans"/>
                <a:ea typeface="Work Sans"/>
                <a:cs typeface="Work Sans"/>
                <a:sym typeface="Work Sans"/>
              </a:rPr>
              <a:t>Based on Nature 2024: "A pathology foundation model for cancer diagnosis and prognosis prediction"</a:t>
            </a:r>
            <a:endParaRPr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A0F8465-D58D-509F-8859-9923EC6CBD22}"/>
              </a:ext>
            </a:extLst>
          </p:cNvPr>
          <p:cNvPicPr>
            <a:picLocks noChangeAspect="1"/>
          </p:cNvPicPr>
          <p:nvPr/>
        </p:nvPicPr>
        <p:blipFill>
          <a:blip r:embed="rId3"/>
          <a:stretch>
            <a:fillRect/>
          </a:stretch>
        </p:blipFill>
        <p:spPr>
          <a:xfrm>
            <a:off x="1201957" y="548538"/>
            <a:ext cx="10251298" cy="3909161"/>
          </a:xfrm>
          <a:prstGeom prst="rect">
            <a:avLst/>
          </a:prstGeom>
        </p:spPr>
      </p:pic>
      <p:pic>
        <p:nvPicPr>
          <p:cNvPr id="2" name="Picture 1">
            <a:extLst>
              <a:ext uri="{FF2B5EF4-FFF2-40B4-BE49-F238E27FC236}">
                <a16:creationId xmlns:a16="http://schemas.microsoft.com/office/drawing/2014/main" id="{48DC2190-A80E-3D85-A5EC-B90BF90BFD79}"/>
              </a:ext>
            </a:extLst>
          </p:cNvPr>
          <p:cNvPicPr>
            <a:picLocks noChangeAspect="1"/>
          </p:cNvPicPr>
          <p:nvPr/>
        </p:nvPicPr>
        <p:blipFill>
          <a:blip r:embed="rId4"/>
          <a:stretch>
            <a:fillRect/>
          </a:stretch>
        </p:blipFill>
        <p:spPr>
          <a:xfrm>
            <a:off x="6096000" y="4572286"/>
            <a:ext cx="6000000" cy="2285714"/>
          </a:xfrm>
          <a:prstGeom prst="rect">
            <a:avLst/>
          </a:prstGeom>
        </p:spPr>
      </p:pic>
      <p:pic>
        <p:nvPicPr>
          <p:cNvPr id="4" name="Picture 3">
            <a:extLst>
              <a:ext uri="{FF2B5EF4-FFF2-40B4-BE49-F238E27FC236}">
                <a16:creationId xmlns:a16="http://schemas.microsoft.com/office/drawing/2014/main" id="{6760A204-BEDE-B983-A523-E75E56BB2310}"/>
              </a:ext>
            </a:extLst>
          </p:cNvPr>
          <p:cNvPicPr>
            <a:picLocks noChangeAspect="1"/>
          </p:cNvPicPr>
          <p:nvPr/>
        </p:nvPicPr>
        <p:blipFill>
          <a:blip r:embed="rId5"/>
          <a:stretch>
            <a:fillRect/>
          </a:stretch>
        </p:blipFill>
        <p:spPr>
          <a:xfrm>
            <a:off x="96000" y="4985652"/>
            <a:ext cx="6000000" cy="1323810"/>
          </a:xfrm>
          <a:prstGeom prst="rect">
            <a:avLst/>
          </a:prstGeom>
        </p:spPr>
      </p:pic>
    </p:spTree>
    <p:extLst>
      <p:ext uri="{BB962C8B-B14F-4D97-AF65-F5344CB8AC3E}">
        <p14:creationId xmlns:p14="http://schemas.microsoft.com/office/powerpoint/2010/main" val="624413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94" name="Google Shape;94;p14"/>
          <p:cNvSpPr txBox="1"/>
          <p:nvPr/>
        </p:nvSpPr>
        <p:spPr>
          <a:xfrm>
            <a:off x="348022" y="1063467"/>
            <a:ext cx="48006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38BDF8"/>
                </a:solidFill>
                <a:latin typeface="Work Sans"/>
                <a:ea typeface="Work Sans"/>
                <a:cs typeface="Work Sans"/>
                <a:sym typeface="Work Sans"/>
              </a:rPr>
              <a:t>The High-Dimensional Covariate</a:t>
            </a:r>
            <a:endParaRPr dirty="0"/>
          </a:p>
        </p:txBody>
      </p:sp>
      <p:sp>
        <p:nvSpPr>
          <p:cNvPr id="95" name="Google Shape;95;p14"/>
          <p:cNvSpPr txBox="1"/>
          <p:nvPr/>
        </p:nvSpPr>
        <p:spPr>
          <a:xfrm>
            <a:off x="348022" y="1520667"/>
            <a:ext cx="45720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The Challenge:</a:t>
            </a:r>
            <a:r>
              <a:rPr lang="en-US" sz="1500" b="0" i="0" u="none" strike="noStrike" cap="none" dirty="0">
                <a:solidFill>
                  <a:schemeClr val="bg1"/>
                </a:solidFill>
                <a:latin typeface="Work Sans"/>
                <a:ea typeface="Work Sans"/>
                <a:cs typeface="Work Sans"/>
                <a:sym typeface="Work Sans"/>
              </a:rPr>
              <a:t> Whole Slide Images (WSIs) contain gigapixels of data. Traditional survival analysis (Cox PH) cannot ingest raw pixels directly.</a:t>
            </a:r>
            <a:endParaRPr dirty="0">
              <a:solidFill>
                <a:schemeClr val="bg1"/>
              </a:solidFill>
            </a:endParaRPr>
          </a:p>
        </p:txBody>
      </p:sp>
      <p:sp>
        <p:nvSpPr>
          <p:cNvPr id="96" name="Google Shape;96;p14"/>
          <p:cNvSpPr txBox="1"/>
          <p:nvPr/>
        </p:nvSpPr>
        <p:spPr>
          <a:xfrm>
            <a:off x="348022" y="3063717"/>
            <a:ext cx="45720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Old Approach:</a:t>
            </a:r>
            <a:r>
              <a:rPr lang="en-US" sz="1500" b="0" i="0" u="none" strike="noStrike" cap="none" dirty="0">
                <a:solidFill>
                  <a:schemeClr val="bg1"/>
                </a:solidFill>
                <a:latin typeface="Work Sans"/>
                <a:ea typeface="Work Sans"/>
                <a:cs typeface="Work Sans"/>
                <a:sym typeface="Work Sans"/>
              </a:rPr>
              <a:t> Manual feature engineering (nuclear grade, mitosis count) or small, task-specific CNNs that overfit.</a:t>
            </a:r>
            <a:endParaRPr dirty="0">
              <a:solidFill>
                <a:schemeClr val="bg1"/>
              </a:solidFill>
            </a:endParaRPr>
          </a:p>
        </p:txBody>
      </p:sp>
      <mc:AlternateContent xmlns:mc="http://schemas.openxmlformats.org/markup-compatibility/2006" xmlns:a14="http://schemas.microsoft.com/office/drawing/2010/main">
        <mc:Choice Requires="a14">
          <p:sp>
            <p:nvSpPr>
              <p:cNvPr id="97" name="Google Shape;97;p14"/>
              <p:cNvSpPr txBox="1"/>
              <p:nvPr/>
            </p:nvSpPr>
            <p:spPr>
              <a:xfrm>
                <a:off x="348022" y="4301967"/>
                <a:ext cx="4572000" cy="113794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New Reality:</a:t>
                </a:r>
                <a:r>
                  <a:rPr lang="en-US" sz="1500" b="0" i="0" u="none" strike="noStrike" cap="none" dirty="0">
                    <a:solidFill>
                      <a:schemeClr val="bg1"/>
                    </a:solidFill>
                    <a:latin typeface="Work Sans"/>
                    <a:ea typeface="Work Sans"/>
                    <a:cs typeface="Work Sans"/>
                    <a:sym typeface="Work Sans"/>
                  </a:rPr>
                  <a:t> We need a way to turn an entire slide into a robust, low-dimensional vector </a:t>
                </a:r>
                <a14:m>
                  <m:oMath xmlns:m="http://schemas.openxmlformats.org/officeDocument/2006/math">
                    <m:sSub>
                      <m:sSubPr>
                        <m:ctrlPr>
                          <a:rPr lang="en-US" sz="1500" b="0" i="1" u="none" strike="noStrike" cap="none" dirty="0" smtClean="0">
                            <a:solidFill>
                              <a:schemeClr val="bg1"/>
                            </a:solidFill>
                            <a:latin typeface="Cambria Math" panose="02040503050406030204" pitchFamily="18" charset="0"/>
                            <a:sym typeface="Work Sans"/>
                          </a:rPr>
                        </m:ctrlPr>
                      </m:sSubPr>
                      <m:e>
                        <m:r>
                          <a:rPr lang="en-US" sz="1500" b="0" i="1" u="none" strike="noStrike" cap="none" dirty="0" smtClean="0">
                            <a:solidFill>
                              <a:schemeClr val="bg1"/>
                            </a:solidFill>
                            <a:latin typeface="Cambria Math" panose="02040503050406030204" pitchFamily="18" charset="0"/>
                            <a:sym typeface="Work Sans"/>
                          </a:rPr>
                          <m:t>𝑥</m:t>
                        </m:r>
                      </m:e>
                      <m:sub>
                        <m:r>
                          <a:rPr lang="en-US" sz="1500" b="0" i="1" u="none" strike="noStrike" cap="none" dirty="0" smtClean="0">
                            <a:solidFill>
                              <a:schemeClr val="bg1"/>
                            </a:solidFill>
                            <a:latin typeface="Cambria Math" panose="02040503050406030204" pitchFamily="18" charset="0"/>
                            <a:sym typeface="Work Sans"/>
                          </a:rPr>
                          <m:t>𝑖𝑚𝑔</m:t>
                        </m:r>
                      </m:sub>
                    </m:sSub>
                  </m:oMath>
                </a14:m>
                <a:r>
                  <a:rPr lang="en-US" sz="1500" b="0" i="0" u="none" strike="noStrike" cap="none" dirty="0">
                    <a:solidFill>
                      <a:schemeClr val="bg1"/>
                    </a:solidFill>
                    <a:latin typeface="Work Sans"/>
                    <a:ea typeface="Work Sans"/>
                    <a:cs typeface="Work Sans"/>
                    <a:sym typeface="Work Sans"/>
                  </a:rPr>
                  <a:t> that correlates with time-to-event.</a:t>
                </a:r>
                <a:endParaRPr dirty="0">
                  <a:solidFill>
                    <a:schemeClr val="bg1"/>
                  </a:solidFill>
                </a:endParaRPr>
              </a:p>
            </p:txBody>
          </p:sp>
        </mc:Choice>
        <mc:Fallback xmlns="">
          <p:sp>
            <p:nvSpPr>
              <p:cNvPr id="97" name="Google Shape;97;p14"/>
              <p:cNvSpPr txBox="1">
                <a:spLocks noRot="1" noChangeAspect="1" noMove="1" noResize="1" noEditPoints="1" noAdjustHandles="1" noChangeArrowheads="1" noChangeShapeType="1" noTextEdit="1"/>
              </p:cNvSpPr>
              <p:nvPr/>
            </p:nvSpPr>
            <p:spPr>
              <a:xfrm>
                <a:off x="348022" y="4301967"/>
                <a:ext cx="4572000" cy="1137940"/>
              </a:xfrm>
              <a:prstGeom prst="rect">
                <a:avLst/>
              </a:prstGeom>
              <a:blipFill>
                <a:blip r:embed="rId4"/>
                <a:stretch>
                  <a:fillRect l="-2533" b="-5914"/>
                </a:stretch>
              </a:blipFill>
              <a:ln>
                <a:noFill/>
              </a:ln>
            </p:spPr>
            <p:txBody>
              <a:bodyPr/>
              <a:lstStyle/>
              <a:p>
                <a:r>
                  <a:rPr lang="en-US">
                    <a:noFill/>
                  </a:rPr>
                  <a:t> </a:t>
                </a:r>
              </a:p>
            </p:txBody>
          </p:sp>
        </mc:Fallback>
      </mc:AlternateContent>
      <p:pic>
        <p:nvPicPr>
          <p:cNvPr id="3" name="Picture 2">
            <a:extLst>
              <a:ext uri="{FF2B5EF4-FFF2-40B4-BE49-F238E27FC236}">
                <a16:creationId xmlns:a16="http://schemas.microsoft.com/office/drawing/2014/main" id="{3399950C-D554-C34F-7470-9857084B2F84}"/>
              </a:ext>
            </a:extLst>
          </p:cNvPr>
          <p:cNvPicPr>
            <a:picLocks noChangeAspect="1"/>
          </p:cNvPicPr>
          <p:nvPr/>
        </p:nvPicPr>
        <p:blipFill>
          <a:blip r:embed="rId5"/>
          <a:stretch>
            <a:fillRect/>
          </a:stretch>
        </p:blipFill>
        <p:spPr>
          <a:xfrm>
            <a:off x="4739629" y="886421"/>
            <a:ext cx="7104349" cy="5462588"/>
          </a:xfrm>
          <a:prstGeom prst="rect">
            <a:avLst/>
          </a:prstGeom>
        </p:spPr>
      </p:pic>
      <p:sp>
        <p:nvSpPr>
          <p:cNvPr id="5" name="TextBox 4">
            <a:extLst>
              <a:ext uri="{FF2B5EF4-FFF2-40B4-BE49-F238E27FC236}">
                <a16:creationId xmlns:a16="http://schemas.microsoft.com/office/drawing/2014/main" id="{6DDAF523-C86C-1757-EB2B-C7D8C1F08F76}"/>
              </a:ext>
            </a:extLst>
          </p:cNvPr>
          <p:cNvSpPr txBox="1"/>
          <p:nvPr/>
        </p:nvSpPr>
        <p:spPr>
          <a:xfrm>
            <a:off x="5707225" y="426952"/>
            <a:ext cx="6223518" cy="307777"/>
          </a:xfrm>
          <a:prstGeom prst="rect">
            <a:avLst/>
          </a:prstGeom>
          <a:noFill/>
        </p:spPr>
        <p:txBody>
          <a:bodyPr wrap="square">
            <a:spAutoFit/>
          </a:bodyPr>
          <a:lstStyle/>
          <a:p>
            <a:r>
              <a:rPr lang="en-US" dirty="0">
                <a:solidFill>
                  <a:schemeClr val="bg1"/>
                </a:solidFill>
                <a:hlinkClick r:id="rId6">
                  <a:extLst>
                    <a:ext uri="{A12FA001-AC4F-418D-AE19-62706E023703}">
                      <ahyp:hlinkClr xmlns:ahyp="http://schemas.microsoft.com/office/drawing/2018/hyperlinkcolor" val="tx"/>
                    </a:ext>
                  </a:extLst>
                </a:hlinkClick>
              </a:rPr>
              <a:t>image-viewer</a:t>
            </a:r>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02"/>
        <p:cNvGrpSpPr/>
        <p:nvPr/>
      </p:nvGrpSpPr>
      <p:grpSpPr>
        <a:xfrm>
          <a:off x="0" y="0"/>
          <a:ext cx="0" cy="0"/>
          <a:chOff x="0" y="0"/>
          <a:chExt cx="0" cy="0"/>
        </a:xfrm>
      </p:grpSpPr>
      <p:pic>
        <p:nvPicPr>
          <p:cNvPr id="103" name="Google Shape;10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05" name="Google Shape;105;p15"/>
          <p:cNvSpPr txBox="1"/>
          <p:nvPr/>
        </p:nvSpPr>
        <p:spPr>
          <a:xfrm>
            <a:off x="571500" y="1795462"/>
            <a:ext cx="523875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A Foundation Model is a large neural network trained on massive datasets to handle a wide variety of downstream tasks.</a:t>
            </a:r>
            <a:endParaRPr dirty="0">
              <a:solidFill>
                <a:schemeClr val="bg1"/>
              </a:solidFill>
            </a:endParaRPr>
          </a:p>
        </p:txBody>
      </p:sp>
      <p:sp>
        <p:nvSpPr>
          <p:cNvPr id="106" name="Google Shape;106;p15"/>
          <p:cNvSpPr txBox="1"/>
          <p:nvPr/>
        </p:nvSpPr>
        <p:spPr>
          <a:xfrm>
            <a:off x="1285875" y="2900362"/>
            <a:ext cx="452437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General Purpose:</a:t>
            </a:r>
            <a:r>
              <a:rPr lang="en-US" sz="1500" b="0" i="0" u="none" strike="noStrike" cap="none" dirty="0">
                <a:solidFill>
                  <a:schemeClr val="bg1"/>
                </a:solidFill>
                <a:latin typeface="Work Sans"/>
                <a:ea typeface="Work Sans"/>
                <a:cs typeface="Work Sans"/>
                <a:sym typeface="Work Sans"/>
              </a:rPr>
              <a:t> Unlike specific models (e.g., "Lung Cancer Detector"), it understands "tissue" generally.</a:t>
            </a:r>
            <a:endParaRPr dirty="0">
              <a:solidFill>
                <a:schemeClr val="bg1"/>
              </a:solidFill>
            </a:endParaRPr>
          </a:p>
        </p:txBody>
      </p:sp>
      <p:sp>
        <p:nvSpPr>
          <p:cNvPr id="107" name="Google Shape;107;p15"/>
          <p:cNvSpPr txBox="1"/>
          <p:nvPr/>
        </p:nvSpPr>
        <p:spPr>
          <a:xfrm>
            <a:off x="1285875" y="4005262"/>
            <a:ext cx="4524375"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Self-Supervised:</a:t>
            </a:r>
            <a:r>
              <a:rPr lang="en-US" sz="1500" b="0" i="0" u="none" strike="noStrike" cap="none" dirty="0">
                <a:solidFill>
                  <a:schemeClr val="bg1"/>
                </a:solidFill>
                <a:latin typeface="Work Sans"/>
                <a:ea typeface="Work Sans"/>
                <a:cs typeface="Work Sans"/>
                <a:sym typeface="Work Sans"/>
              </a:rPr>
              <a:t> Learned from data patterns without expensive pixel-level manual annotations.</a:t>
            </a:r>
            <a:endParaRPr dirty="0">
              <a:solidFill>
                <a:schemeClr val="bg1"/>
              </a:solidFill>
            </a:endParaRPr>
          </a:p>
        </p:txBody>
      </p:sp>
      <p:sp>
        <p:nvSpPr>
          <p:cNvPr id="108" name="Google Shape;108;p15"/>
          <p:cNvSpPr txBox="1"/>
          <p:nvPr/>
        </p:nvSpPr>
        <p:spPr>
          <a:xfrm>
            <a:off x="1285875" y="5110162"/>
            <a:ext cx="4524375"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Adaptable:</a:t>
            </a:r>
            <a:r>
              <a:rPr lang="en-US" sz="1500" b="0" i="0" u="none" strike="noStrike" cap="none" dirty="0">
                <a:solidFill>
                  <a:schemeClr val="bg1"/>
                </a:solidFill>
                <a:latin typeface="Work Sans"/>
                <a:ea typeface="Work Sans"/>
                <a:cs typeface="Work Sans"/>
                <a:sym typeface="Work Sans"/>
              </a:rPr>
              <a:t> We "freeze" the model and use it as a feature extractor for our survival regressions.</a:t>
            </a:r>
            <a:endParaRPr dirty="0">
              <a:solidFill>
                <a:schemeClr val="bg1"/>
              </a:solidFill>
            </a:endParaRPr>
          </a:p>
        </p:txBody>
      </p:sp>
      <p:pic>
        <p:nvPicPr>
          <p:cNvPr id="110" name="Google Shape;110;p15" descr="image.png"/>
          <p:cNvPicPr preferRelativeResize="0"/>
          <p:nvPr/>
        </p:nvPicPr>
        <p:blipFill rotWithShape="1">
          <a:blip r:embed="rId4">
            <a:alphaModFix/>
          </a:blip>
          <a:srcRect/>
          <a:stretch/>
        </p:blipFill>
        <p:spPr>
          <a:xfrm>
            <a:off x="952500" y="2957512"/>
            <a:ext cx="190500" cy="17145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952500" y="4062412"/>
            <a:ext cx="219075" cy="171450"/>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952500" y="5167312"/>
            <a:ext cx="171450" cy="171450"/>
          </a:xfrm>
          <a:prstGeom prst="rect">
            <a:avLst/>
          </a:prstGeom>
          <a:noFill/>
          <a:ln>
            <a:noFill/>
          </a:ln>
        </p:spPr>
      </p:pic>
      <p:sp>
        <p:nvSpPr>
          <p:cNvPr id="113" name="Google Shape;113;p15"/>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What is a "Foundation Model"?</a:t>
            </a:r>
            <a:endParaRPr/>
          </a:p>
        </p:txBody>
      </p:sp>
      <p:sp>
        <p:nvSpPr>
          <p:cNvPr id="114" name="Google Shape;114;p15"/>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A3AD635-54C8-2E14-D863-06078ECD8CA7}"/>
              </a:ext>
            </a:extLst>
          </p:cNvPr>
          <p:cNvPicPr>
            <a:picLocks noChangeAspect="1"/>
          </p:cNvPicPr>
          <p:nvPr/>
        </p:nvPicPr>
        <p:blipFill>
          <a:blip r:embed="rId7"/>
          <a:stretch>
            <a:fillRect/>
          </a:stretch>
        </p:blipFill>
        <p:spPr>
          <a:xfrm>
            <a:off x="6381750" y="1795462"/>
            <a:ext cx="5274404" cy="39243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18"/>
        <p:cNvGrpSpPr/>
        <p:nvPr/>
      </p:nvGrpSpPr>
      <p:grpSpPr>
        <a:xfrm>
          <a:off x="0" y="0"/>
          <a:ext cx="0" cy="0"/>
          <a:chOff x="0" y="0"/>
          <a:chExt cx="0" cy="0"/>
        </a:xfrm>
      </p:grpSpPr>
      <p:pic>
        <p:nvPicPr>
          <p:cNvPr id="119" name="Google Shape;119;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0" name="Google Shape;120;p16" descr="image.png"/>
          <p:cNvPicPr preferRelativeResize="0"/>
          <p:nvPr/>
        </p:nvPicPr>
        <p:blipFill rotWithShape="1">
          <a:blip r:embed="rId4">
            <a:alphaModFix/>
          </a:blip>
          <a:srcRect/>
          <a:stretch/>
        </p:blipFill>
        <p:spPr>
          <a:xfrm>
            <a:off x="571500" y="2586037"/>
            <a:ext cx="3492549" cy="3000375"/>
          </a:xfrm>
          <a:prstGeom prst="rect">
            <a:avLst/>
          </a:prstGeom>
          <a:noFill/>
          <a:ln>
            <a:noFill/>
          </a:ln>
        </p:spPr>
      </p:pic>
      <p:pic>
        <p:nvPicPr>
          <p:cNvPr id="121" name="Google Shape;121;p16" descr="image.png"/>
          <p:cNvPicPr preferRelativeResize="0"/>
          <p:nvPr/>
        </p:nvPicPr>
        <p:blipFill rotWithShape="1">
          <a:blip r:embed="rId5">
            <a:alphaModFix/>
          </a:blip>
          <a:srcRect/>
          <a:stretch/>
        </p:blipFill>
        <p:spPr>
          <a:xfrm>
            <a:off x="4349799" y="2586037"/>
            <a:ext cx="3492549" cy="3000375"/>
          </a:xfrm>
          <a:prstGeom prst="rect">
            <a:avLst/>
          </a:prstGeom>
          <a:noFill/>
          <a:ln>
            <a:noFill/>
          </a:ln>
        </p:spPr>
      </p:pic>
      <p:pic>
        <p:nvPicPr>
          <p:cNvPr id="122" name="Google Shape;122;p16" descr="image.png"/>
          <p:cNvPicPr preferRelativeResize="0"/>
          <p:nvPr/>
        </p:nvPicPr>
        <p:blipFill rotWithShape="1">
          <a:blip r:embed="rId6">
            <a:alphaModFix/>
          </a:blip>
          <a:srcRect/>
          <a:stretch/>
        </p:blipFill>
        <p:spPr>
          <a:xfrm>
            <a:off x="8128099" y="2586037"/>
            <a:ext cx="3492549" cy="3000375"/>
          </a:xfrm>
          <a:prstGeom prst="rect">
            <a:avLst/>
          </a:prstGeom>
          <a:noFill/>
          <a:ln>
            <a:noFill/>
          </a:ln>
        </p:spPr>
      </p:pic>
      <p:sp>
        <p:nvSpPr>
          <p:cNvPr id="123" name="Google Shape;123;p16"/>
          <p:cNvSpPr txBox="1"/>
          <p:nvPr/>
        </p:nvSpPr>
        <p:spPr>
          <a:xfrm>
            <a:off x="866775" y="3471862"/>
            <a:ext cx="3047099"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bg1"/>
                </a:solidFill>
                <a:latin typeface="Work Sans"/>
                <a:ea typeface="Work Sans"/>
                <a:cs typeface="Work Sans"/>
                <a:sym typeface="Work Sans"/>
              </a:rPr>
              <a:t>Scale</a:t>
            </a:r>
            <a:endParaRPr dirty="0">
              <a:solidFill>
                <a:schemeClr val="bg1"/>
              </a:solidFill>
            </a:endParaRPr>
          </a:p>
        </p:txBody>
      </p:sp>
      <p:sp>
        <p:nvSpPr>
          <p:cNvPr id="124" name="Google Shape;124;p16"/>
          <p:cNvSpPr txBox="1"/>
          <p:nvPr/>
        </p:nvSpPr>
        <p:spPr>
          <a:xfrm>
            <a:off x="866775" y="3929062"/>
            <a:ext cx="2901999"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Trained on </a:t>
            </a:r>
            <a:r>
              <a:rPr lang="en-US" sz="1500" b="1" i="0" u="none" strike="noStrike" cap="none" dirty="0">
                <a:solidFill>
                  <a:schemeClr val="bg1"/>
                </a:solidFill>
                <a:latin typeface="Work Sans"/>
                <a:ea typeface="Work Sans"/>
                <a:cs typeface="Work Sans"/>
                <a:sym typeface="Work Sans"/>
              </a:rPr>
              <a:t>60,530 Whole Slide Images</a:t>
            </a:r>
            <a:r>
              <a:rPr lang="en-US" sz="1500" b="0" i="0" u="none" strike="noStrike" cap="none" dirty="0">
                <a:solidFill>
                  <a:schemeClr val="bg1"/>
                </a:solidFill>
                <a:latin typeface="Work Sans"/>
                <a:ea typeface="Work Sans"/>
                <a:cs typeface="Work Sans"/>
                <a:sym typeface="Work Sans"/>
              </a:rPr>
              <a:t> across 19 anatomical sites. That's 44 Terabytes of imaging data.</a:t>
            </a:r>
            <a:endParaRPr dirty="0">
              <a:solidFill>
                <a:schemeClr val="bg1"/>
              </a:solidFill>
            </a:endParaRPr>
          </a:p>
        </p:txBody>
      </p:sp>
      <p:sp>
        <p:nvSpPr>
          <p:cNvPr id="125" name="Google Shape;125;p16"/>
          <p:cNvSpPr txBox="1"/>
          <p:nvPr/>
        </p:nvSpPr>
        <p:spPr>
          <a:xfrm>
            <a:off x="4645074" y="3471862"/>
            <a:ext cx="3047099"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bg1"/>
                </a:solidFill>
                <a:latin typeface="Work Sans"/>
                <a:ea typeface="Work Sans"/>
                <a:cs typeface="Work Sans"/>
                <a:sym typeface="Work Sans"/>
              </a:rPr>
              <a:t>Resolution</a:t>
            </a:r>
            <a:endParaRPr dirty="0">
              <a:solidFill>
                <a:schemeClr val="bg1"/>
              </a:solidFill>
            </a:endParaRPr>
          </a:p>
        </p:txBody>
      </p:sp>
      <p:sp>
        <p:nvSpPr>
          <p:cNvPr id="126" name="Google Shape;126;p16"/>
          <p:cNvSpPr txBox="1"/>
          <p:nvPr/>
        </p:nvSpPr>
        <p:spPr>
          <a:xfrm>
            <a:off x="4645074" y="3929062"/>
            <a:ext cx="2901999"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Uses a </a:t>
            </a:r>
            <a:r>
              <a:rPr lang="en-US" sz="1500" b="1" i="0" u="none" strike="noStrike" cap="none" dirty="0">
                <a:solidFill>
                  <a:schemeClr val="bg1"/>
                </a:solidFill>
                <a:latin typeface="Work Sans"/>
                <a:ea typeface="Work Sans"/>
                <a:cs typeface="Work Sans"/>
                <a:sym typeface="Work Sans"/>
              </a:rPr>
              <a:t>two-stage</a:t>
            </a:r>
            <a:r>
              <a:rPr lang="en-US" sz="1500" b="0" i="0" u="none" strike="noStrike" cap="none" dirty="0">
                <a:solidFill>
                  <a:schemeClr val="bg1"/>
                </a:solidFill>
                <a:latin typeface="Work Sans"/>
                <a:ea typeface="Work Sans"/>
                <a:cs typeface="Work Sans"/>
                <a:sym typeface="Work Sans"/>
              </a:rPr>
              <a:t> pretraining: Tile-level (local textures) and Slide-level (global context).</a:t>
            </a:r>
            <a:endParaRPr dirty="0">
              <a:solidFill>
                <a:schemeClr val="bg1"/>
              </a:solidFill>
            </a:endParaRPr>
          </a:p>
        </p:txBody>
      </p:sp>
      <p:sp>
        <p:nvSpPr>
          <p:cNvPr id="127" name="Google Shape;127;p16"/>
          <p:cNvSpPr txBox="1"/>
          <p:nvPr/>
        </p:nvSpPr>
        <p:spPr>
          <a:xfrm>
            <a:off x="8423374" y="3471862"/>
            <a:ext cx="3047099"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chemeClr val="bg1"/>
                </a:solidFill>
                <a:latin typeface="Work Sans"/>
                <a:ea typeface="Work Sans"/>
                <a:cs typeface="Work Sans"/>
                <a:sym typeface="Work Sans"/>
              </a:rPr>
              <a:t>Intelligence</a:t>
            </a:r>
            <a:endParaRPr dirty="0">
              <a:solidFill>
                <a:schemeClr val="bg1"/>
              </a:solidFill>
            </a:endParaRPr>
          </a:p>
        </p:txBody>
      </p:sp>
      <p:sp>
        <p:nvSpPr>
          <p:cNvPr id="128" name="Google Shape;128;p16"/>
          <p:cNvSpPr txBox="1"/>
          <p:nvPr/>
        </p:nvSpPr>
        <p:spPr>
          <a:xfrm>
            <a:off x="8423374" y="3929062"/>
            <a:ext cx="2901999"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Uses </a:t>
            </a:r>
            <a:r>
              <a:rPr lang="en-US" sz="1500" b="1" i="0" u="none" strike="noStrike" cap="none" dirty="0">
                <a:solidFill>
                  <a:schemeClr val="bg1"/>
                </a:solidFill>
                <a:latin typeface="Work Sans"/>
                <a:ea typeface="Work Sans"/>
                <a:cs typeface="Work Sans"/>
                <a:sym typeface="Work Sans"/>
              </a:rPr>
              <a:t>Weak Supervision</a:t>
            </a:r>
            <a:r>
              <a:rPr lang="en-US" sz="1500" b="0" i="0" u="none" strike="noStrike" cap="none" dirty="0">
                <a:solidFill>
                  <a:schemeClr val="bg1"/>
                </a:solidFill>
                <a:latin typeface="Work Sans"/>
                <a:ea typeface="Work Sans"/>
                <a:cs typeface="Work Sans"/>
                <a:sym typeface="Work Sans"/>
              </a:rPr>
              <a:t>. It learns from slide-level labels (e.g., "Lung Cancer") rather than pixel masks.</a:t>
            </a:r>
            <a:endParaRPr dirty="0">
              <a:solidFill>
                <a:schemeClr val="bg1"/>
              </a:solidFill>
            </a:endParaRPr>
          </a:p>
        </p:txBody>
      </p:sp>
      <p:pic>
        <p:nvPicPr>
          <p:cNvPr id="129" name="Google Shape;129;p16" descr="image.png"/>
          <p:cNvPicPr preferRelativeResize="0"/>
          <p:nvPr/>
        </p:nvPicPr>
        <p:blipFill rotWithShape="1">
          <a:blip r:embed="rId7">
            <a:alphaModFix/>
          </a:blip>
          <a:srcRect/>
          <a:stretch/>
        </p:blipFill>
        <p:spPr>
          <a:xfrm>
            <a:off x="866775" y="2900362"/>
            <a:ext cx="304800" cy="342900"/>
          </a:xfrm>
          <a:prstGeom prst="rect">
            <a:avLst/>
          </a:prstGeom>
          <a:noFill/>
          <a:ln>
            <a:noFill/>
          </a:ln>
        </p:spPr>
      </p:pic>
      <p:pic>
        <p:nvPicPr>
          <p:cNvPr id="130" name="Google Shape;130;p16" descr="image.png"/>
          <p:cNvPicPr preferRelativeResize="0"/>
          <p:nvPr/>
        </p:nvPicPr>
        <p:blipFill rotWithShape="1">
          <a:blip r:embed="rId8">
            <a:alphaModFix/>
          </a:blip>
          <a:srcRect/>
          <a:stretch/>
        </p:blipFill>
        <p:spPr>
          <a:xfrm>
            <a:off x="4645074" y="2900362"/>
            <a:ext cx="390525" cy="342900"/>
          </a:xfrm>
          <a:prstGeom prst="rect">
            <a:avLst/>
          </a:prstGeom>
          <a:noFill/>
          <a:ln>
            <a:noFill/>
          </a:ln>
        </p:spPr>
      </p:pic>
      <p:pic>
        <p:nvPicPr>
          <p:cNvPr id="131" name="Google Shape;131;p16" descr="image.png"/>
          <p:cNvPicPr preferRelativeResize="0"/>
          <p:nvPr/>
        </p:nvPicPr>
        <p:blipFill rotWithShape="1">
          <a:blip r:embed="rId9">
            <a:alphaModFix/>
          </a:blip>
          <a:srcRect/>
          <a:stretch/>
        </p:blipFill>
        <p:spPr>
          <a:xfrm>
            <a:off x="8423374" y="2900362"/>
            <a:ext cx="342900" cy="342900"/>
          </a:xfrm>
          <a:prstGeom prst="rect">
            <a:avLst/>
          </a:prstGeom>
          <a:noFill/>
          <a:ln>
            <a:noFill/>
          </a:ln>
        </p:spPr>
      </p:pic>
      <p:sp>
        <p:nvSpPr>
          <p:cNvPr id="132" name="Google Shape;132;p16"/>
          <p:cNvSpPr txBox="1"/>
          <p:nvPr/>
        </p:nvSpPr>
        <p:spPr>
          <a:xfrm>
            <a:off x="762000" y="571500"/>
            <a:ext cx="11401425" cy="9334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Meet CHIEF (Clinical Histopathology Imaging Evaluation Foundation)</a:t>
            </a:r>
            <a:endParaRPr/>
          </a:p>
        </p:txBody>
      </p:sp>
      <p:sp>
        <p:nvSpPr>
          <p:cNvPr id="133" name="Google Shape;133;p16"/>
          <p:cNvSpPr/>
          <p:nvPr/>
        </p:nvSpPr>
        <p:spPr>
          <a:xfrm>
            <a:off x="571500" y="571500"/>
            <a:ext cx="57150" cy="93345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41" name="Google Shape;141;p17"/>
          <p:cNvSpPr txBox="1"/>
          <p:nvPr/>
        </p:nvSpPr>
        <p:spPr>
          <a:xfrm>
            <a:off x="9695235" y="1232268"/>
            <a:ext cx="5500687" cy="3524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a:solidFill>
                  <a:srgbClr val="38BDF8"/>
                </a:solidFill>
                <a:latin typeface="Roboto Mono"/>
                <a:ea typeface="Roboto Mono"/>
                <a:cs typeface="Roboto Mono"/>
                <a:sym typeface="Roboto Mono"/>
              </a:rPr>
              <a:t>Step-by-Step</a:t>
            </a:r>
            <a:endParaRPr dirty="0"/>
          </a:p>
        </p:txBody>
      </p:sp>
      <p:sp>
        <p:nvSpPr>
          <p:cNvPr id="143" name="Google Shape;143;p17"/>
          <p:cNvSpPr txBox="1"/>
          <p:nvPr/>
        </p:nvSpPr>
        <p:spPr>
          <a:xfrm>
            <a:off x="8444203" y="1604247"/>
            <a:ext cx="3204288" cy="738664"/>
          </a:xfrm>
          <a:prstGeom prst="rect">
            <a:avLst/>
          </a:prstGeom>
          <a:noFill/>
          <a:ln>
            <a:noFill/>
          </a:ln>
        </p:spPr>
        <p:txBody>
          <a:bodyPr spcFirstLastPara="1" wrap="square" lIns="12382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Tiling:</a:t>
            </a:r>
            <a:r>
              <a:rPr lang="en-US" sz="1500" b="0" i="0" u="none" strike="noStrike" cap="none" dirty="0">
                <a:solidFill>
                  <a:schemeClr val="bg1"/>
                </a:solidFill>
                <a:latin typeface="Work Sans"/>
                <a:ea typeface="Work Sans"/>
                <a:cs typeface="Work Sans"/>
                <a:sym typeface="Work Sans"/>
              </a:rPr>
              <a:t> WSI is cut into thousands of small squares (tiles).</a:t>
            </a:r>
            <a:endParaRPr dirty="0">
              <a:solidFill>
                <a:schemeClr val="bg1"/>
              </a:solidFill>
            </a:endParaRPr>
          </a:p>
        </p:txBody>
      </p:sp>
      <p:sp>
        <p:nvSpPr>
          <p:cNvPr id="144" name="Google Shape;144;p17"/>
          <p:cNvSpPr txBox="1"/>
          <p:nvPr/>
        </p:nvSpPr>
        <p:spPr>
          <a:xfrm>
            <a:off x="6600825" y="2862262"/>
            <a:ext cx="16192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B0B0B0"/>
                </a:solidFill>
                <a:latin typeface="Work Sans"/>
                <a:ea typeface="Work Sans"/>
                <a:cs typeface="Work Sans"/>
                <a:sym typeface="Work Sans"/>
              </a:rPr>
              <a:t>.</a:t>
            </a:r>
            <a:endParaRPr dirty="0"/>
          </a:p>
        </p:txBody>
      </p:sp>
      <p:sp>
        <p:nvSpPr>
          <p:cNvPr id="145" name="Google Shape;145;p17"/>
          <p:cNvSpPr txBox="1"/>
          <p:nvPr/>
        </p:nvSpPr>
        <p:spPr>
          <a:xfrm>
            <a:off x="8454312" y="2321004"/>
            <a:ext cx="3204287" cy="1107996"/>
          </a:xfrm>
          <a:prstGeom prst="rect">
            <a:avLst/>
          </a:prstGeom>
          <a:noFill/>
          <a:ln>
            <a:noFill/>
          </a:ln>
        </p:spPr>
        <p:txBody>
          <a:bodyPr spcFirstLastPara="1" wrap="square" lIns="16192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Feature Extraction:</a:t>
            </a:r>
            <a:r>
              <a:rPr lang="en-US" sz="1500" b="0" i="0" u="none" strike="noStrike" cap="none" dirty="0">
                <a:solidFill>
                  <a:schemeClr val="bg1"/>
                </a:solidFill>
                <a:latin typeface="Work Sans"/>
                <a:ea typeface="Work Sans"/>
                <a:cs typeface="Work Sans"/>
                <a:sym typeface="Work Sans"/>
              </a:rPr>
              <a:t> </a:t>
            </a:r>
            <a:r>
              <a:rPr lang="en-US" sz="1500" b="0" i="0" u="none" strike="noStrike" cap="none" dirty="0" err="1">
                <a:solidFill>
                  <a:schemeClr val="bg1"/>
                </a:solidFill>
                <a:latin typeface="Work Sans"/>
                <a:ea typeface="Work Sans"/>
                <a:cs typeface="Work Sans"/>
                <a:sym typeface="Work Sans"/>
              </a:rPr>
              <a:t>CTransPath</a:t>
            </a:r>
            <a:r>
              <a:rPr lang="en-US" sz="1500" b="0" i="0" u="none" strike="noStrike" cap="none" dirty="0">
                <a:solidFill>
                  <a:schemeClr val="bg1"/>
                </a:solidFill>
                <a:latin typeface="Work Sans"/>
                <a:ea typeface="Work Sans"/>
                <a:cs typeface="Work Sans"/>
                <a:sym typeface="Work Sans"/>
              </a:rPr>
              <a:t> (a Vision Transformer) converts each tile into a vector.</a:t>
            </a:r>
            <a:endParaRPr dirty="0">
              <a:solidFill>
                <a:schemeClr val="bg1"/>
              </a:solidFill>
            </a:endParaRPr>
          </a:p>
        </p:txBody>
      </p:sp>
      <p:sp>
        <p:nvSpPr>
          <p:cNvPr id="147" name="Google Shape;147;p17"/>
          <p:cNvSpPr txBox="1"/>
          <p:nvPr/>
        </p:nvSpPr>
        <p:spPr>
          <a:xfrm>
            <a:off x="8416211" y="3429000"/>
            <a:ext cx="3204288" cy="1846659"/>
          </a:xfrm>
          <a:prstGeom prst="rect">
            <a:avLst/>
          </a:prstGeom>
          <a:noFill/>
          <a:ln>
            <a:noFill/>
          </a:ln>
        </p:spPr>
        <p:txBody>
          <a:bodyPr spcFirstLastPara="1" wrap="square" lIns="16192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Global Aggregation:</a:t>
            </a:r>
            <a:r>
              <a:rPr lang="en-US" sz="1500" b="0" i="0" u="none" strike="noStrike" cap="none" dirty="0">
                <a:solidFill>
                  <a:schemeClr val="bg1"/>
                </a:solidFill>
                <a:latin typeface="Work Sans"/>
                <a:ea typeface="Work Sans"/>
                <a:cs typeface="Work Sans"/>
                <a:sym typeface="Work Sans"/>
              </a:rPr>
              <a:t> A specialized attention mechanism pools these thousands of vectors into one </a:t>
            </a:r>
            <a:r>
              <a:rPr lang="en-US" sz="1500" b="1" i="0" u="none" strike="noStrike" cap="none" dirty="0">
                <a:solidFill>
                  <a:schemeClr val="bg1"/>
                </a:solidFill>
                <a:latin typeface="Work Sans"/>
                <a:ea typeface="Work Sans"/>
                <a:cs typeface="Work Sans"/>
                <a:sym typeface="Work Sans"/>
              </a:rPr>
              <a:t>Slide Embedding</a:t>
            </a:r>
            <a:r>
              <a:rPr lang="en-US" sz="1500" b="0" i="0" u="none" strike="noStrike" cap="none" dirty="0">
                <a:solidFill>
                  <a:schemeClr val="bg1"/>
                </a:solidFill>
                <a:latin typeface="Work Sans"/>
                <a:ea typeface="Work Sans"/>
                <a:cs typeface="Work Sans"/>
                <a:sym typeface="Work Sans"/>
              </a:rPr>
              <a:t>.</a:t>
            </a:r>
            <a:endParaRPr dirty="0">
              <a:solidFill>
                <a:schemeClr val="bg1"/>
              </a:solidFill>
            </a:endParaRPr>
          </a:p>
        </p:txBody>
      </p:sp>
      <p:sp>
        <p:nvSpPr>
          <p:cNvPr id="148" name="Google Shape;148;p17"/>
          <p:cNvSpPr txBox="1"/>
          <p:nvPr/>
        </p:nvSpPr>
        <p:spPr>
          <a:xfrm>
            <a:off x="6600825" y="4386262"/>
            <a:ext cx="161925"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dirty="0">
                <a:solidFill>
                  <a:srgbClr val="B0B0B0"/>
                </a:solidFill>
                <a:latin typeface="Work Sans"/>
                <a:ea typeface="Work Sans"/>
                <a:cs typeface="Work Sans"/>
                <a:sym typeface="Work Sans"/>
              </a:rPr>
              <a:t>4.</a:t>
            </a:r>
            <a:endParaRPr dirty="0"/>
          </a:p>
        </p:txBody>
      </p:sp>
      <p:sp>
        <p:nvSpPr>
          <p:cNvPr id="149" name="Google Shape;149;p17"/>
          <p:cNvSpPr txBox="1"/>
          <p:nvPr/>
        </p:nvSpPr>
        <p:spPr>
          <a:xfrm>
            <a:off x="8454312" y="5302761"/>
            <a:ext cx="3260272" cy="1107996"/>
          </a:xfrm>
          <a:prstGeom prst="rect">
            <a:avLst/>
          </a:prstGeom>
          <a:noFill/>
          <a:ln>
            <a:noFill/>
          </a:ln>
        </p:spPr>
        <p:txBody>
          <a:bodyPr spcFirstLastPara="1" wrap="square" lIns="161925"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Downstream Task:</a:t>
            </a:r>
            <a:r>
              <a:rPr lang="en-US" sz="1500" b="0" i="0" u="none" strike="noStrike" cap="none" dirty="0">
                <a:solidFill>
                  <a:schemeClr val="bg1"/>
                </a:solidFill>
                <a:latin typeface="Work Sans"/>
                <a:ea typeface="Work Sans"/>
                <a:cs typeface="Work Sans"/>
                <a:sym typeface="Work Sans"/>
              </a:rPr>
              <a:t> This single embedding is fed into a Survival Head (Cox/Log-Rank).</a:t>
            </a:r>
            <a:endParaRPr dirty="0">
              <a:solidFill>
                <a:schemeClr val="bg1"/>
              </a:solidFill>
            </a:endParaRPr>
          </a:p>
        </p:txBody>
      </p:sp>
      <p:sp>
        <p:nvSpPr>
          <p:cNvPr id="150" name="Google Shape;150;p17"/>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How It Works: The Pipeline</a:t>
            </a:r>
            <a:endParaRPr/>
          </a:p>
        </p:txBody>
      </p:sp>
      <p:sp>
        <p:nvSpPr>
          <p:cNvPr id="151" name="Google Shape;151;p17"/>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E06657ED-5DDE-864A-2A3F-AADA9E94EC9B}"/>
              </a:ext>
            </a:extLst>
          </p:cNvPr>
          <p:cNvPicPr>
            <a:picLocks noChangeAspect="1"/>
          </p:cNvPicPr>
          <p:nvPr/>
        </p:nvPicPr>
        <p:blipFill>
          <a:blip r:embed="rId4"/>
          <a:stretch>
            <a:fillRect/>
          </a:stretch>
        </p:blipFill>
        <p:spPr>
          <a:xfrm>
            <a:off x="135815" y="1709519"/>
            <a:ext cx="8216763" cy="470123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55"/>
        <p:cNvGrpSpPr/>
        <p:nvPr/>
      </p:nvGrpSpPr>
      <p:grpSpPr>
        <a:xfrm>
          <a:off x="0" y="0"/>
          <a:ext cx="0" cy="0"/>
          <a:chOff x="0" y="0"/>
          <a:chExt cx="0" cy="0"/>
        </a:xfrm>
      </p:grpSpPr>
      <p:pic>
        <p:nvPicPr>
          <p:cNvPr id="156" name="Google Shape;156;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7" name="Google Shape;157;p18" descr="image.png"/>
          <p:cNvPicPr preferRelativeResize="0"/>
          <p:nvPr/>
        </p:nvPicPr>
        <p:blipFill rotWithShape="1">
          <a:blip r:embed="rId4">
            <a:alphaModFix/>
          </a:blip>
          <a:srcRect/>
          <a:stretch/>
        </p:blipFill>
        <p:spPr>
          <a:xfrm>
            <a:off x="6381750" y="3156198"/>
            <a:ext cx="4141737" cy="907405"/>
          </a:xfrm>
          <a:prstGeom prst="rect">
            <a:avLst/>
          </a:prstGeom>
          <a:noFill/>
          <a:ln>
            <a:noFill/>
          </a:ln>
        </p:spPr>
      </p:pic>
      <p:sp>
        <p:nvSpPr>
          <p:cNvPr id="158" name="Google Shape;158;p18"/>
          <p:cNvSpPr txBox="1"/>
          <p:nvPr/>
        </p:nvSpPr>
        <p:spPr>
          <a:xfrm>
            <a:off x="571500" y="2698998"/>
            <a:ext cx="5500687"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1. Input Data</a:t>
            </a:r>
            <a:endParaRPr/>
          </a:p>
        </p:txBody>
      </p:sp>
      <p:sp>
        <p:nvSpPr>
          <p:cNvPr id="159" name="Google Shape;159;p18"/>
          <p:cNvSpPr txBox="1"/>
          <p:nvPr/>
        </p:nvSpPr>
        <p:spPr>
          <a:xfrm>
            <a:off x="571500" y="3156198"/>
            <a:ext cx="523875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We take a patient's WSI X and their survival tuple (T, E), where T is time and E is the event indicator (death/recurrence).</a:t>
            </a:r>
            <a:endParaRPr dirty="0">
              <a:solidFill>
                <a:schemeClr val="bg1"/>
              </a:solidFill>
            </a:endParaRPr>
          </a:p>
        </p:txBody>
      </p:sp>
      <p:sp>
        <p:nvSpPr>
          <p:cNvPr id="160" name="Google Shape;160;p18"/>
          <p:cNvSpPr txBox="1"/>
          <p:nvPr/>
        </p:nvSpPr>
        <p:spPr>
          <a:xfrm>
            <a:off x="6381750" y="2698998"/>
            <a:ext cx="5500687"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2. The Risk Score</a:t>
            </a:r>
            <a:endParaRPr/>
          </a:p>
        </p:txBody>
      </p:sp>
      <p:sp>
        <p:nvSpPr>
          <p:cNvPr id="162" name="Google Shape;162;p18"/>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Methodology: From Pixels to Hazard Ratios</a:t>
            </a:r>
            <a:endParaRPr/>
          </a:p>
        </p:txBody>
      </p:sp>
      <p:sp>
        <p:nvSpPr>
          <p:cNvPr id="163" name="Google Shape;163;p18"/>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67"/>
        <p:cNvGrpSpPr/>
        <p:nvPr/>
      </p:nvGrpSpPr>
      <p:grpSpPr>
        <a:xfrm>
          <a:off x="0" y="0"/>
          <a:ext cx="0" cy="0"/>
          <a:chOff x="0" y="0"/>
          <a:chExt cx="0" cy="0"/>
        </a:xfrm>
      </p:grpSpPr>
      <p:pic>
        <p:nvPicPr>
          <p:cNvPr id="168" name="Google Shape;168;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69" name="Google Shape;169;p19"/>
          <p:cNvSpPr txBox="1"/>
          <p:nvPr/>
        </p:nvSpPr>
        <p:spPr>
          <a:xfrm>
            <a:off x="762000" y="1528762"/>
            <a:ext cx="480060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38BDF8"/>
                </a:solidFill>
                <a:latin typeface="Work Sans"/>
                <a:ea typeface="Work Sans"/>
                <a:cs typeface="Work Sans"/>
                <a:sym typeface="Work Sans"/>
              </a:rPr>
              <a:t>Interpretable AI</a:t>
            </a:r>
            <a:endParaRPr/>
          </a:p>
        </p:txBody>
      </p:sp>
      <p:sp>
        <p:nvSpPr>
          <p:cNvPr id="170" name="Google Shape;170;p19"/>
          <p:cNvSpPr txBox="1"/>
          <p:nvPr/>
        </p:nvSpPr>
        <p:spPr>
          <a:xfrm>
            <a:off x="762000" y="1795462"/>
            <a:ext cx="457200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One major critique of "Black Box" models in survival analysis is the lack of interpretability.</a:t>
            </a:r>
            <a:endParaRPr dirty="0">
              <a:solidFill>
                <a:schemeClr val="bg1"/>
              </a:solidFill>
            </a:endParaRPr>
          </a:p>
        </p:txBody>
      </p:sp>
      <p:sp>
        <p:nvSpPr>
          <p:cNvPr id="171" name="Google Shape;171;p19"/>
          <p:cNvSpPr txBox="1"/>
          <p:nvPr/>
        </p:nvSpPr>
        <p:spPr>
          <a:xfrm>
            <a:off x="762000" y="2728912"/>
            <a:ext cx="4572000" cy="1477328"/>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solidFill>
                  <a:schemeClr val="bg1"/>
                </a:solidFill>
                <a:latin typeface="Work Sans"/>
                <a:ea typeface="Work Sans"/>
                <a:cs typeface="Work Sans"/>
                <a:sym typeface="Work Sans"/>
              </a:rPr>
              <a:t>Attention Maps:</a:t>
            </a:r>
            <a:r>
              <a:rPr lang="en-US" sz="1500" b="0" i="0" u="none" strike="noStrike" cap="none" dirty="0">
                <a:solidFill>
                  <a:schemeClr val="bg1"/>
                </a:solidFill>
                <a:latin typeface="Work Sans"/>
                <a:ea typeface="Work Sans"/>
                <a:cs typeface="Work Sans"/>
                <a:sym typeface="Work Sans"/>
              </a:rPr>
              <a:t> CHIEF assigns an "attention score" to every tile. We can visualize exactly which cells the model used to determine high risk.</a:t>
            </a:r>
            <a:endParaRPr dirty="0">
              <a:solidFill>
                <a:schemeClr val="bg1"/>
              </a:solidFill>
            </a:endParaRPr>
          </a:p>
        </p:txBody>
      </p:sp>
      <p:sp>
        <p:nvSpPr>
          <p:cNvPr id="172" name="Google Shape;172;p19"/>
          <p:cNvSpPr txBox="1"/>
          <p:nvPr/>
        </p:nvSpPr>
        <p:spPr>
          <a:xfrm>
            <a:off x="762000" y="4271962"/>
            <a:ext cx="457200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1" u="none" strike="noStrike" cap="none" dirty="0">
                <a:solidFill>
                  <a:schemeClr val="bg1"/>
                </a:solidFill>
                <a:latin typeface="Work Sans"/>
                <a:ea typeface="Work Sans"/>
                <a:cs typeface="Work Sans"/>
                <a:sym typeface="Work Sans"/>
              </a:rPr>
              <a:t>Example:</a:t>
            </a:r>
            <a:r>
              <a:rPr lang="en-US" sz="1500" b="0" i="0" u="none" strike="noStrike" cap="none" dirty="0">
                <a:solidFill>
                  <a:schemeClr val="bg1"/>
                </a:solidFill>
                <a:latin typeface="Work Sans"/>
                <a:ea typeface="Work Sans"/>
                <a:cs typeface="Work Sans"/>
                <a:sym typeface="Work Sans"/>
              </a:rPr>
              <a:t> High-risk scores in colon cancer often focus on stromal regions and tumor budding, not just the tumor bulk.</a:t>
            </a:r>
            <a:endParaRPr dirty="0">
              <a:solidFill>
                <a:schemeClr val="bg1"/>
              </a:solidFill>
            </a:endParaRPr>
          </a:p>
        </p:txBody>
      </p:sp>
      <p:pic>
        <p:nvPicPr>
          <p:cNvPr id="3" name="Picture 2">
            <a:extLst>
              <a:ext uri="{FF2B5EF4-FFF2-40B4-BE49-F238E27FC236}">
                <a16:creationId xmlns:a16="http://schemas.microsoft.com/office/drawing/2014/main" id="{23C32682-B92D-8DC6-2F6D-ABCC9ECB3B41}"/>
              </a:ext>
            </a:extLst>
          </p:cNvPr>
          <p:cNvPicPr>
            <a:picLocks noChangeAspect="1"/>
          </p:cNvPicPr>
          <p:nvPr/>
        </p:nvPicPr>
        <p:blipFill>
          <a:blip r:embed="rId4"/>
          <a:stretch>
            <a:fillRect/>
          </a:stretch>
        </p:blipFill>
        <p:spPr>
          <a:xfrm>
            <a:off x="5334000" y="1201737"/>
            <a:ext cx="6858000" cy="496666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77"/>
        <p:cNvGrpSpPr/>
        <p:nvPr/>
      </p:nvGrpSpPr>
      <p:grpSpPr>
        <a:xfrm>
          <a:off x="0" y="0"/>
          <a:ext cx="0" cy="0"/>
          <a:chOff x="0" y="0"/>
          <a:chExt cx="0" cy="0"/>
        </a:xfrm>
      </p:grpSpPr>
      <p:pic>
        <p:nvPicPr>
          <p:cNvPr id="178" name="Google Shape;178;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9" name="Google Shape;179;p20" descr="image.png"/>
          <p:cNvPicPr preferRelativeResize="0"/>
          <p:nvPr/>
        </p:nvPicPr>
        <p:blipFill rotWithShape="1">
          <a:blip r:embed="rId4">
            <a:alphaModFix/>
          </a:blip>
          <a:srcRect/>
          <a:stretch/>
        </p:blipFill>
        <p:spPr>
          <a:xfrm>
            <a:off x="571500" y="1419225"/>
            <a:ext cx="11049000" cy="4867275"/>
          </a:xfrm>
          <a:prstGeom prst="rect">
            <a:avLst/>
          </a:prstGeom>
          <a:noFill/>
          <a:ln>
            <a:noFill/>
          </a:ln>
        </p:spPr>
      </p:pic>
      <p:sp>
        <p:nvSpPr>
          <p:cNvPr id="180" name="Google Shape;180;p20"/>
          <p:cNvSpPr txBox="1"/>
          <p:nvPr/>
        </p:nvSpPr>
        <p:spPr>
          <a:xfrm>
            <a:off x="1574801" y="2091780"/>
            <a:ext cx="8640762"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chemeClr val="bg1"/>
                </a:solidFill>
                <a:latin typeface="Work Sans"/>
                <a:ea typeface="Work Sans"/>
                <a:cs typeface="Work Sans"/>
                <a:sym typeface="Work Sans"/>
              </a:rPr>
              <a:t>Validation on independent external cohorts (average across cancer types)</a:t>
            </a:r>
            <a:endParaRPr dirty="0">
              <a:solidFill>
                <a:schemeClr val="bg1"/>
              </a:solidFill>
            </a:endParaRPr>
          </a:p>
        </p:txBody>
      </p:sp>
      <p:sp>
        <p:nvSpPr>
          <p:cNvPr id="181" name="Google Shape;181;p20"/>
          <p:cNvSpPr txBox="1"/>
          <p:nvPr/>
        </p:nvSpPr>
        <p:spPr>
          <a:xfrm>
            <a:off x="3419475" y="5113883"/>
            <a:ext cx="5353050"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B0B0B0"/>
                </a:solidFill>
                <a:latin typeface="Work Sans"/>
                <a:ea typeface="Work Sans"/>
                <a:cs typeface="Work Sans"/>
                <a:sym typeface="Work Sans"/>
              </a:rPr>
              <a:t>*CHIEF consistently stratifies patients into High vs. Low risk (p &lt; 0.005)</a:t>
            </a:r>
            <a:endParaRPr/>
          </a:p>
        </p:txBody>
      </p:sp>
      <p:sp>
        <p:nvSpPr>
          <p:cNvPr id="182" name="Google Shape;182;p20"/>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Survival Prediction Performance (C-Index)</a:t>
            </a:r>
            <a:endParaRPr/>
          </a:p>
        </p:txBody>
      </p:sp>
      <p:sp>
        <p:nvSpPr>
          <p:cNvPr id="183" name="Google Shape;183;p20"/>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87"/>
        <p:cNvGrpSpPr/>
        <p:nvPr/>
      </p:nvGrpSpPr>
      <p:grpSpPr>
        <a:xfrm>
          <a:off x="0" y="0"/>
          <a:ext cx="0" cy="0"/>
          <a:chOff x="0" y="0"/>
          <a:chExt cx="0" cy="0"/>
        </a:xfrm>
      </p:grpSpPr>
      <p:pic>
        <p:nvPicPr>
          <p:cNvPr id="188" name="Google Shape;18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0" name="Google Shape;190;p21"/>
          <p:cNvSpPr txBox="1"/>
          <p:nvPr/>
        </p:nvSpPr>
        <p:spPr>
          <a:xfrm>
            <a:off x="571500" y="2043112"/>
            <a:ext cx="5500687"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Separating Risk Groups</a:t>
            </a:r>
            <a:endParaRPr/>
          </a:p>
        </p:txBody>
      </p:sp>
      <p:sp>
        <p:nvSpPr>
          <p:cNvPr id="191" name="Google Shape;191;p21"/>
          <p:cNvSpPr txBox="1"/>
          <p:nvPr/>
        </p:nvSpPr>
        <p:spPr>
          <a:xfrm>
            <a:off x="571500" y="2500312"/>
            <a:ext cx="5238750"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When we split patients based on the median CHIEF risk score, we see significant separation in survival curves.</a:t>
            </a:r>
            <a:endParaRPr dirty="0">
              <a:solidFill>
                <a:schemeClr val="bg1"/>
              </a:solidFill>
            </a:endParaRPr>
          </a:p>
        </p:txBody>
      </p:sp>
      <p:sp>
        <p:nvSpPr>
          <p:cNvPr id="192" name="Google Shape;192;p21"/>
          <p:cNvSpPr txBox="1"/>
          <p:nvPr/>
        </p:nvSpPr>
        <p:spPr>
          <a:xfrm>
            <a:off x="6072187" y="2130980"/>
            <a:ext cx="5238750"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chemeClr val="bg1"/>
                </a:solidFill>
                <a:latin typeface="Work Sans"/>
                <a:ea typeface="Work Sans"/>
                <a:cs typeface="Work Sans"/>
                <a:sym typeface="Work Sans"/>
              </a:rPr>
              <a:t>This works even within the </a:t>
            </a:r>
            <a:r>
              <a:rPr lang="en-US" sz="1500" b="1" i="0" u="none" strike="noStrike" cap="none" dirty="0">
                <a:solidFill>
                  <a:schemeClr val="bg1"/>
                </a:solidFill>
                <a:latin typeface="Work Sans"/>
                <a:ea typeface="Work Sans"/>
                <a:cs typeface="Work Sans"/>
                <a:sym typeface="Work Sans"/>
              </a:rPr>
              <a:t>same tumor stage</a:t>
            </a:r>
            <a:r>
              <a:rPr lang="en-US" sz="1500" b="0" i="0" u="none" strike="noStrike" cap="none" dirty="0">
                <a:solidFill>
                  <a:schemeClr val="bg1"/>
                </a:solidFill>
                <a:latin typeface="Work Sans"/>
                <a:ea typeface="Work Sans"/>
                <a:cs typeface="Work Sans"/>
                <a:sym typeface="Work Sans"/>
              </a:rPr>
              <a:t>, meaning the image contains prognostic signal </a:t>
            </a:r>
            <a:r>
              <a:rPr lang="en-US" sz="1500" b="0" i="1" u="none" strike="noStrike" cap="none" dirty="0">
                <a:solidFill>
                  <a:schemeClr val="bg1"/>
                </a:solidFill>
                <a:latin typeface="Work Sans"/>
                <a:ea typeface="Work Sans"/>
                <a:cs typeface="Work Sans"/>
                <a:sym typeface="Work Sans"/>
              </a:rPr>
              <a:t>independent</a:t>
            </a:r>
            <a:r>
              <a:rPr lang="en-US" sz="1500" b="0" i="0" u="none" strike="noStrike" cap="none" dirty="0">
                <a:solidFill>
                  <a:schemeClr val="bg1"/>
                </a:solidFill>
                <a:latin typeface="Work Sans"/>
                <a:ea typeface="Work Sans"/>
                <a:cs typeface="Work Sans"/>
                <a:sym typeface="Work Sans"/>
              </a:rPr>
              <a:t> of TNM staging.</a:t>
            </a:r>
            <a:endParaRPr dirty="0">
              <a:solidFill>
                <a:schemeClr val="bg1"/>
              </a:solidFill>
            </a:endParaRPr>
          </a:p>
        </p:txBody>
      </p:sp>
      <p:sp>
        <p:nvSpPr>
          <p:cNvPr id="194" name="Google Shape;194;p21"/>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Risk Stratification (KM Curves)</a:t>
            </a:r>
            <a:endParaRPr/>
          </a:p>
        </p:txBody>
      </p:sp>
      <p:sp>
        <p:nvSpPr>
          <p:cNvPr id="195" name="Google Shape;195;p21"/>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4E35D1E-B98A-BC88-7266-6C60FAD3BE7A}"/>
              </a:ext>
            </a:extLst>
          </p:cNvPr>
          <p:cNvPicPr>
            <a:picLocks noChangeAspect="1"/>
          </p:cNvPicPr>
          <p:nvPr/>
        </p:nvPicPr>
        <p:blipFill>
          <a:blip r:embed="rId4"/>
          <a:stretch>
            <a:fillRect/>
          </a:stretch>
        </p:blipFill>
        <p:spPr>
          <a:xfrm>
            <a:off x="2361291" y="3279818"/>
            <a:ext cx="6330271" cy="35373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199"/>
        <p:cNvGrpSpPr/>
        <p:nvPr/>
      </p:nvGrpSpPr>
      <p:grpSpPr>
        <a:xfrm>
          <a:off x="0" y="0"/>
          <a:ext cx="0" cy="0"/>
          <a:chOff x="0" y="0"/>
          <a:chExt cx="0" cy="0"/>
        </a:xfrm>
      </p:grpSpPr>
      <p:pic>
        <p:nvPicPr>
          <p:cNvPr id="200" name="Google Shape;200;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201" name="Google Shape;201;p22"/>
          <p:cNvGraphicFramePr/>
          <p:nvPr>
            <p:extLst>
              <p:ext uri="{D42A27DB-BD31-4B8C-83A1-F6EECF244321}">
                <p14:modId xmlns:p14="http://schemas.microsoft.com/office/powerpoint/2010/main" val="1033349614"/>
              </p:ext>
            </p:extLst>
          </p:nvPr>
        </p:nvGraphicFramePr>
        <p:xfrm>
          <a:off x="571500" y="2357437"/>
          <a:ext cx="11049000" cy="2990875"/>
        </p:xfrm>
        <a:graphic>
          <a:graphicData uri="http://schemas.openxmlformats.org/drawingml/2006/table">
            <a:tbl>
              <a:tblPr firstRow="1" bandRow="1">
                <a:noFill/>
                <a:tableStyleId>{0CBD9752-4FEF-4BC2-892A-BC592B268AA8}</a:tableStyleId>
              </a:tblPr>
              <a:tblGrid>
                <a:gridCol w="2485725">
                  <a:extLst>
                    <a:ext uri="{9D8B030D-6E8A-4147-A177-3AD203B41FA5}">
                      <a16:colId xmlns:a16="http://schemas.microsoft.com/office/drawing/2014/main" val="20000"/>
                    </a:ext>
                  </a:extLst>
                </a:gridCol>
                <a:gridCol w="4150375">
                  <a:extLst>
                    <a:ext uri="{9D8B030D-6E8A-4147-A177-3AD203B41FA5}">
                      <a16:colId xmlns:a16="http://schemas.microsoft.com/office/drawing/2014/main" val="20001"/>
                    </a:ext>
                  </a:extLst>
                </a:gridCol>
                <a:gridCol w="4412900">
                  <a:extLst>
                    <a:ext uri="{9D8B030D-6E8A-4147-A177-3AD203B41FA5}">
                      <a16:colId xmlns:a16="http://schemas.microsoft.com/office/drawing/2014/main" val="20002"/>
                    </a:ext>
                  </a:extLst>
                </a:gridCol>
              </a:tblGrid>
              <a:tr h="598175">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Feature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Standard CNN (e.g., ResNet)</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Foundation Model (CHIEF)</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38BDF8"/>
                    </a:solidFill>
                  </a:tcPr>
                </a:tc>
                <a:extLst>
                  <a:ext uri="{0D108BD9-81ED-4DB2-BD59-A6C34878D82A}">
                    <a16:rowId xmlns:a16="http://schemas.microsoft.com/office/drawing/2014/main" val="10000"/>
                  </a:ext>
                </a:extLst>
              </a:tr>
              <a:tr h="598175">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Training Data</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Small (~1k slides), Single Site</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Massive (~60k slides), 19 Sites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98175">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Annotation</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chemeClr val="tx1"/>
                          </a:solidFill>
                          <a:latin typeface="Work Sans"/>
                          <a:ea typeface="Work Sans"/>
                          <a:cs typeface="Work Sans"/>
                          <a:sym typeface="Work Sans"/>
                        </a:rPr>
                        <a:t>Requires ROI masks (expensive)</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Weak labels (slide-level diagnosis)</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98175">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Context</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Local Patches only</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Whole Slide Context (Global)</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98175">
                <a:tc>
                  <a:txBody>
                    <a:bodyPr/>
                    <a:lstStyle/>
                    <a:p>
                      <a:pPr marL="0" marR="0" lvl="0" indent="0" algn="l" rtl="0">
                        <a:spcBef>
                          <a:spcPts val="0"/>
                        </a:spcBef>
                        <a:spcAft>
                          <a:spcPts val="0"/>
                        </a:spcAft>
                        <a:buNone/>
                      </a:pPr>
                      <a:r>
                        <a:rPr lang="en-US" sz="1500" b="1" i="0" u="none" strike="noStrike" cap="none">
                          <a:solidFill>
                            <a:schemeClr val="tx1"/>
                          </a:solidFill>
                          <a:latin typeface="Work Sans"/>
                          <a:ea typeface="Work Sans"/>
                          <a:cs typeface="Work Sans"/>
                          <a:sym typeface="Work Sans"/>
                        </a:rPr>
                        <a:t>Survival C-Index</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chemeClr val="tx1"/>
                          </a:solidFill>
                          <a:latin typeface="Work Sans"/>
                          <a:ea typeface="Work Sans"/>
                          <a:cs typeface="Work Sans"/>
                          <a:sym typeface="Work Sans"/>
                        </a:rPr>
                        <a:t>Moderate (0.60 - 0.70)</a:t>
                      </a:r>
                      <a:endParaRPr>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dirty="0">
                          <a:solidFill>
                            <a:schemeClr val="tx1"/>
                          </a:solidFill>
                          <a:latin typeface="Work Sans"/>
                          <a:ea typeface="Work Sans"/>
                          <a:cs typeface="Work Sans"/>
                          <a:sym typeface="Work Sans"/>
                        </a:rPr>
                        <a:t>High (0.75 - 0.80+)</a:t>
                      </a:r>
                      <a:endParaRPr dirty="0">
                        <a:solidFill>
                          <a:schemeClr val="tx1"/>
                        </a:solidFill>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202" name="Google Shape;202;p22"/>
          <p:cNvSpPr/>
          <p:nvPr/>
        </p:nvSpPr>
        <p:spPr>
          <a:xfrm>
            <a:off x="571500" y="2943225"/>
            <a:ext cx="2485727"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3" name="Google Shape;203;p22"/>
          <p:cNvSpPr/>
          <p:nvPr/>
        </p:nvSpPr>
        <p:spPr>
          <a:xfrm>
            <a:off x="3057227" y="2943225"/>
            <a:ext cx="4150369"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4" name="Google Shape;204;p22"/>
          <p:cNvSpPr/>
          <p:nvPr/>
        </p:nvSpPr>
        <p:spPr>
          <a:xfrm>
            <a:off x="7207597" y="2943225"/>
            <a:ext cx="4412902"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5" name="Google Shape;205;p22"/>
          <p:cNvSpPr/>
          <p:nvPr/>
        </p:nvSpPr>
        <p:spPr>
          <a:xfrm>
            <a:off x="571500" y="3543300"/>
            <a:ext cx="2485727"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6" name="Google Shape;206;p22"/>
          <p:cNvSpPr/>
          <p:nvPr/>
        </p:nvSpPr>
        <p:spPr>
          <a:xfrm>
            <a:off x="3057227" y="3543300"/>
            <a:ext cx="4150369"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7" name="Google Shape;207;p22"/>
          <p:cNvSpPr/>
          <p:nvPr/>
        </p:nvSpPr>
        <p:spPr>
          <a:xfrm>
            <a:off x="7207597" y="3543300"/>
            <a:ext cx="4412902"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8" name="Google Shape;208;p22"/>
          <p:cNvSpPr/>
          <p:nvPr/>
        </p:nvSpPr>
        <p:spPr>
          <a:xfrm>
            <a:off x="571500" y="4143375"/>
            <a:ext cx="2485727"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2"/>
          <p:cNvSpPr/>
          <p:nvPr/>
        </p:nvSpPr>
        <p:spPr>
          <a:xfrm>
            <a:off x="3057227" y="4143375"/>
            <a:ext cx="4150369"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2"/>
          <p:cNvSpPr/>
          <p:nvPr/>
        </p:nvSpPr>
        <p:spPr>
          <a:xfrm>
            <a:off x="7207597" y="4143375"/>
            <a:ext cx="4412902"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2"/>
          <p:cNvSpPr/>
          <p:nvPr/>
        </p:nvSpPr>
        <p:spPr>
          <a:xfrm>
            <a:off x="571500" y="4743450"/>
            <a:ext cx="2485727"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2" name="Google Shape;212;p22"/>
          <p:cNvSpPr/>
          <p:nvPr/>
        </p:nvSpPr>
        <p:spPr>
          <a:xfrm>
            <a:off x="3057227" y="4743450"/>
            <a:ext cx="4150369"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3" name="Google Shape;213;p22"/>
          <p:cNvSpPr/>
          <p:nvPr/>
        </p:nvSpPr>
        <p:spPr>
          <a:xfrm>
            <a:off x="7207597" y="4743450"/>
            <a:ext cx="4412902" cy="9525"/>
          </a:xfrm>
          <a:prstGeom prst="rect">
            <a:avLst/>
          </a:prstGeom>
          <a:solidFill>
            <a:srgbClr val="44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4" name="Google Shape;214;p22"/>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Foundation Models vs. Standard CNNs</a:t>
            </a:r>
            <a:endParaRPr/>
          </a:p>
        </p:txBody>
      </p:sp>
      <p:sp>
        <p:nvSpPr>
          <p:cNvPr id="215" name="Google Shape;215;p22"/>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219"/>
        <p:cNvGrpSpPr/>
        <p:nvPr/>
      </p:nvGrpSpPr>
      <p:grpSpPr>
        <a:xfrm>
          <a:off x="0" y="0"/>
          <a:ext cx="0" cy="0"/>
          <a:chOff x="0" y="0"/>
          <a:chExt cx="0" cy="0"/>
        </a:xfrm>
      </p:grpSpPr>
      <p:pic>
        <p:nvPicPr>
          <p:cNvPr id="220" name="Google Shape;220;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1" name="Google Shape;221;p23" descr="image.png"/>
          <p:cNvPicPr preferRelativeResize="0"/>
          <p:nvPr/>
        </p:nvPicPr>
        <p:blipFill rotWithShape="1">
          <a:blip r:embed="rId4">
            <a:alphaModFix/>
          </a:blip>
          <a:srcRect/>
          <a:stretch/>
        </p:blipFill>
        <p:spPr>
          <a:xfrm>
            <a:off x="571500" y="2495550"/>
            <a:ext cx="3492549" cy="2714625"/>
          </a:xfrm>
          <a:prstGeom prst="rect">
            <a:avLst/>
          </a:prstGeom>
          <a:noFill/>
          <a:ln>
            <a:noFill/>
          </a:ln>
        </p:spPr>
      </p:pic>
      <p:pic>
        <p:nvPicPr>
          <p:cNvPr id="222" name="Google Shape;222;p23" descr="image.png"/>
          <p:cNvPicPr preferRelativeResize="0"/>
          <p:nvPr/>
        </p:nvPicPr>
        <p:blipFill rotWithShape="1">
          <a:blip r:embed="rId5">
            <a:alphaModFix/>
          </a:blip>
          <a:srcRect/>
          <a:stretch/>
        </p:blipFill>
        <p:spPr>
          <a:xfrm>
            <a:off x="4349799" y="2495550"/>
            <a:ext cx="3492549" cy="2714625"/>
          </a:xfrm>
          <a:prstGeom prst="rect">
            <a:avLst/>
          </a:prstGeom>
          <a:noFill/>
          <a:ln>
            <a:noFill/>
          </a:ln>
        </p:spPr>
      </p:pic>
      <p:pic>
        <p:nvPicPr>
          <p:cNvPr id="223" name="Google Shape;223;p23" descr="image.png"/>
          <p:cNvPicPr preferRelativeResize="0"/>
          <p:nvPr/>
        </p:nvPicPr>
        <p:blipFill rotWithShape="1">
          <a:blip r:embed="rId6">
            <a:alphaModFix/>
          </a:blip>
          <a:srcRect/>
          <a:stretch/>
        </p:blipFill>
        <p:spPr>
          <a:xfrm>
            <a:off x="8128099" y="2495550"/>
            <a:ext cx="3492549" cy="2714625"/>
          </a:xfrm>
          <a:prstGeom prst="rect">
            <a:avLst/>
          </a:prstGeom>
          <a:noFill/>
          <a:ln>
            <a:noFill/>
          </a:ln>
        </p:spPr>
      </p:pic>
      <p:pic>
        <p:nvPicPr>
          <p:cNvPr id="224" name="Google Shape;224;p23" descr="image.png"/>
          <p:cNvPicPr preferRelativeResize="0"/>
          <p:nvPr/>
        </p:nvPicPr>
        <p:blipFill rotWithShape="1">
          <a:blip r:embed="rId7">
            <a:alphaModFix/>
          </a:blip>
          <a:srcRect/>
          <a:stretch/>
        </p:blipFill>
        <p:spPr>
          <a:xfrm>
            <a:off x="8423374" y="2790825"/>
            <a:ext cx="2901999" cy="400050"/>
          </a:xfrm>
          <a:prstGeom prst="rect">
            <a:avLst/>
          </a:prstGeom>
          <a:noFill/>
          <a:ln>
            <a:noFill/>
          </a:ln>
        </p:spPr>
      </p:pic>
      <p:sp>
        <p:nvSpPr>
          <p:cNvPr id="225" name="Google Shape;225;p23"/>
          <p:cNvSpPr txBox="1"/>
          <p:nvPr/>
        </p:nvSpPr>
        <p:spPr>
          <a:xfrm>
            <a:off x="866775" y="3381375"/>
            <a:ext cx="3047099"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1. Pre-trained Weights</a:t>
            </a:r>
            <a:endParaRPr/>
          </a:p>
        </p:txBody>
      </p:sp>
      <p:sp>
        <p:nvSpPr>
          <p:cNvPr id="226" name="Google Shape;226;p23"/>
          <p:cNvSpPr txBox="1"/>
          <p:nvPr/>
        </p:nvSpPr>
        <p:spPr>
          <a:xfrm>
            <a:off x="866775" y="3838575"/>
            <a:ext cx="290199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B0B0B0"/>
                </a:solidFill>
                <a:latin typeface="Work Sans"/>
                <a:ea typeface="Work Sans"/>
                <a:cs typeface="Work Sans"/>
                <a:sym typeface="Work Sans"/>
              </a:rPr>
              <a:t>We don't need to train CHIEF. We download the weights and run our WSIs through it.</a:t>
            </a:r>
            <a:endParaRPr/>
          </a:p>
        </p:txBody>
      </p:sp>
      <p:sp>
        <p:nvSpPr>
          <p:cNvPr id="227" name="Google Shape;227;p23"/>
          <p:cNvSpPr txBox="1"/>
          <p:nvPr/>
        </p:nvSpPr>
        <p:spPr>
          <a:xfrm>
            <a:off x="4645074" y="3381375"/>
            <a:ext cx="3047099"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2. Feature Extraction</a:t>
            </a:r>
            <a:endParaRPr/>
          </a:p>
        </p:txBody>
      </p:sp>
      <p:sp>
        <p:nvSpPr>
          <p:cNvPr id="228" name="Google Shape;228;p23"/>
          <p:cNvSpPr txBox="1"/>
          <p:nvPr/>
        </p:nvSpPr>
        <p:spPr>
          <a:xfrm>
            <a:off x="4645074" y="3838575"/>
            <a:ext cx="2901999"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a:solidFill>
                  <a:srgbClr val="B0B0B0"/>
                </a:solidFill>
                <a:latin typeface="Work Sans"/>
                <a:ea typeface="Work Sans"/>
                <a:cs typeface="Work Sans"/>
                <a:sym typeface="Work Sans"/>
              </a:rPr>
              <a:t>Output: A fixed-length vector per patient. This becomes a new column in our dataset.</a:t>
            </a:r>
            <a:endParaRPr/>
          </a:p>
        </p:txBody>
      </p:sp>
      <p:sp>
        <p:nvSpPr>
          <p:cNvPr id="229" name="Google Shape;229;p23"/>
          <p:cNvSpPr txBox="1"/>
          <p:nvPr/>
        </p:nvSpPr>
        <p:spPr>
          <a:xfrm>
            <a:off x="8423374" y="3381375"/>
            <a:ext cx="3047099"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E0E0E0"/>
                </a:solidFill>
                <a:latin typeface="Work Sans"/>
                <a:ea typeface="Work Sans"/>
                <a:cs typeface="Work Sans"/>
                <a:sym typeface="Work Sans"/>
              </a:rPr>
              <a:t>3. Hybrid Models</a:t>
            </a:r>
            <a:endParaRPr/>
          </a:p>
        </p:txBody>
      </p:sp>
      <p:sp>
        <p:nvSpPr>
          <p:cNvPr id="230" name="Google Shape;230;p23"/>
          <p:cNvSpPr txBox="1"/>
          <p:nvPr/>
        </p:nvSpPr>
        <p:spPr>
          <a:xfrm>
            <a:off x="8423374" y="3838575"/>
            <a:ext cx="2901999" cy="933450"/>
          </a:xfrm>
          <a:prstGeom prst="rect">
            <a:avLst/>
          </a:prstGeom>
          <a:noFill/>
          <a:ln>
            <a:noFill/>
          </a:ln>
        </p:spPr>
        <p:txBody>
          <a:bodyPr spcFirstLastPara="1" wrap="square" lIns="0" tIns="0" rIns="0" bIns="0" anchor="t" anchorCtr="0">
            <a:spAutoFit/>
          </a:bodyPr>
          <a:lstStyle/>
          <a:p>
            <a:pPr marL="0" marR="0" lvl="0" indent="0" algn="l" rtl="0">
              <a:lnSpc>
                <a:spcPct val="133333"/>
              </a:lnSpc>
              <a:spcBef>
                <a:spcPts val="0"/>
              </a:spcBef>
              <a:spcAft>
                <a:spcPts val="0"/>
              </a:spcAft>
              <a:buNone/>
            </a:pPr>
            <a:r>
              <a:rPr lang="en-US" sz="1500" b="0" i="0" u="none" strike="noStrike" cap="none">
                <a:solidFill>
                  <a:srgbClr val="B0B0B0"/>
                </a:solidFill>
                <a:latin typeface="Work Sans"/>
                <a:ea typeface="Work Sans"/>
                <a:cs typeface="Work Sans"/>
                <a:sym typeface="Work Sans"/>
              </a:rPr>
              <a:t>Fit a Cox Model using: </a:t>
            </a:r>
            <a:br>
              <a:rPr lang="en-US" sz="1800" b="0" i="0" u="none" strike="noStrike" cap="none">
                <a:solidFill>
                  <a:schemeClr val="dk1"/>
                </a:solidFill>
                <a:latin typeface="Calibri"/>
                <a:ea typeface="Calibri"/>
                <a:cs typeface="Calibri"/>
                <a:sym typeface="Calibri"/>
              </a:rPr>
            </a:br>
            <a:r>
              <a:rPr lang="en-US" sz="1500" b="0" i="0" u="none" strike="noStrike" cap="none">
                <a:solidFill>
                  <a:srgbClr val="38BDF8"/>
                </a:solidFill>
                <a:latin typeface="Work Sans"/>
                <a:ea typeface="Work Sans"/>
                <a:cs typeface="Work Sans"/>
                <a:sym typeface="Work Sans"/>
              </a:rPr>
              <a:t>h(t) ~ Age + Stage + CHIEF_Score</a:t>
            </a:r>
            <a:endParaRPr/>
          </a:p>
        </p:txBody>
      </p:sp>
      <p:pic>
        <p:nvPicPr>
          <p:cNvPr id="231" name="Google Shape;231;p23" descr="image.png"/>
          <p:cNvPicPr preferRelativeResize="0"/>
          <p:nvPr/>
        </p:nvPicPr>
        <p:blipFill rotWithShape="1">
          <a:blip r:embed="rId8">
            <a:alphaModFix/>
          </a:blip>
          <a:srcRect/>
          <a:stretch/>
        </p:blipFill>
        <p:spPr>
          <a:xfrm>
            <a:off x="866775" y="2809875"/>
            <a:ext cx="342900" cy="342900"/>
          </a:xfrm>
          <a:prstGeom prst="rect">
            <a:avLst/>
          </a:prstGeom>
          <a:noFill/>
          <a:ln>
            <a:noFill/>
          </a:ln>
        </p:spPr>
      </p:pic>
      <p:pic>
        <p:nvPicPr>
          <p:cNvPr id="232" name="Google Shape;232;p23" descr="image.png"/>
          <p:cNvPicPr preferRelativeResize="0"/>
          <p:nvPr/>
        </p:nvPicPr>
        <p:blipFill rotWithShape="1">
          <a:blip r:embed="rId9">
            <a:alphaModFix/>
          </a:blip>
          <a:srcRect/>
          <a:stretch/>
        </p:blipFill>
        <p:spPr>
          <a:xfrm>
            <a:off x="4645074" y="2809875"/>
            <a:ext cx="257175" cy="342900"/>
          </a:xfrm>
          <a:prstGeom prst="rect">
            <a:avLst/>
          </a:prstGeom>
          <a:noFill/>
          <a:ln>
            <a:noFill/>
          </a:ln>
        </p:spPr>
      </p:pic>
      <p:sp>
        <p:nvSpPr>
          <p:cNvPr id="233" name="Google Shape;233;p23"/>
          <p:cNvSpPr txBox="1"/>
          <p:nvPr/>
        </p:nvSpPr>
        <p:spPr>
          <a:xfrm>
            <a:off x="762000" y="571500"/>
            <a:ext cx="11401425" cy="4667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FFFFF"/>
                </a:solidFill>
                <a:latin typeface="Work Sans"/>
                <a:ea typeface="Work Sans"/>
                <a:cs typeface="Work Sans"/>
                <a:sym typeface="Work Sans"/>
              </a:rPr>
              <a:t>How We Can Use This</a:t>
            </a:r>
            <a:endParaRPr/>
          </a:p>
        </p:txBody>
      </p:sp>
      <p:sp>
        <p:nvSpPr>
          <p:cNvPr id="234" name="Google Shape;234;p23"/>
          <p:cNvSpPr/>
          <p:nvPr/>
        </p:nvSpPr>
        <p:spPr>
          <a:xfrm>
            <a:off x="571500" y="571500"/>
            <a:ext cx="57150" cy="466725"/>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112281C-3809-DEE7-EF95-1911FF9E41C1}"/>
              </a:ext>
            </a:extLst>
          </p:cNvPr>
          <p:cNvPicPr>
            <a:picLocks noChangeAspect="1"/>
          </p:cNvPicPr>
          <p:nvPr/>
        </p:nvPicPr>
        <p:blipFill>
          <a:blip r:embed="rId3"/>
          <a:stretch>
            <a:fillRect/>
          </a:stretch>
        </p:blipFill>
        <p:spPr>
          <a:xfrm>
            <a:off x="686476" y="1276619"/>
            <a:ext cx="10819048" cy="4304762"/>
          </a:xfrm>
          <a:prstGeom prst="rect">
            <a:avLst/>
          </a:prstGeom>
        </p:spPr>
      </p:pic>
    </p:spTree>
    <p:extLst>
      <p:ext uri="{BB962C8B-B14F-4D97-AF65-F5344CB8AC3E}">
        <p14:creationId xmlns:p14="http://schemas.microsoft.com/office/powerpoint/2010/main" val="20267222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238"/>
        <p:cNvGrpSpPr/>
        <p:nvPr/>
      </p:nvGrpSpPr>
      <p:grpSpPr>
        <a:xfrm>
          <a:off x="0" y="0"/>
          <a:ext cx="0" cy="0"/>
          <a:chOff x="0" y="0"/>
          <a:chExt cx="0" cy="0"/>
        </a:xfrm>
      </p:grpSpPr>
      <p:pic>
        <p:nvPicPr>
          <p:cNvPr id="239" name="Google Shape;239;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0" name="Google Shape;240;p24"/>
          <p:cNvSpPr txBox="1"/>
          <p:nvPr/>
        </p:nvSpPr>
        <p:spPr>
          <a:xfrm>
            <a:off x="3125628" y="1797397"/>
            <a:ext cx="5940742" cy="67047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4800" b="1" i="0" u="none" strike="noStrike" cap="none">
                <a:solidFill>
                  <a:srgbClr val="38BDF8"/>
                </a:solidFill>
                <a:latin typeface="Roboto Mono"/>
                <a:ea typeface="Roboto Mono"/>
                <a:cs typeface="Roboto Mono"/>
                <a:sym typeface="Roboto Mono"/>
              </a:rPr>
              <a:t>Discussion</a:t>
            </a:r>
            <a:endParaRPr/>
          </a:p>
        </p:txBody>
      </p:sp>
      <p:sp>
        <p:nvSpPr>
          <p:cNvPr id="241" name="Google Shape;241;p24"/>
          <p:cNvSpPr txBox="1"/>
          <p:nvPr/>
        </p:nvSpPr>
        <p:spPr>
          <a:xfrm>
            <a:off x="3125628" y="3077467"/>
            <a:ext cx="5940742" cy="6286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200" b="1" i="0" u="none" strike="noStrike" cap="none">
                <a:solidFill>
                  <a:srgbClr val="FFFFFF"/>
                </a:solidFill>
                <a:latin typeface="Work Sans"/>
                <a:ea typeface="Work Sans"/>
                <a:cs typeface="Work Sans"/>
                <a:sym typeface="Work Sans"/>
              </a:rPr>
              <a:t>Questions?</a:t>
            </a:r>
            <a:endParaRPr/>
          </a:p>
        </p:txBody>
      </p:sp>
      <p:sp>
        <p:nvSpPr>
          <p:cNvPr id="242" name="Google Shape;242;p24"/>
          <p:cNvSpPr txBox="1"/>
          <p:nvPr/>
        </p:nvSpPr>
        <p:spPr>
          <a:xfrm>
            <a:off x="3267075" y="3896617"/>
            <a:ext cx="5657850" cy="365670"/>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a:solidFill>
                  <a:srgbClr val="94A3B8"/>
                </a:solidFill>
                <a:latin typeface="Work Sans"/>
                <a:ea typeface="Work Sans"/>
                <a:cs typeface="Work Sans"/>
                <a:sym typeface="Work Sans"/>
              </a:rPr>
              <a:t>Focus: Application to our current survival datasets</a:t>
            </a:r>
            <a:endParaRPr/>
          </a:p>
        </p:txBody>
      </p:sp>
      <p:sp>
        <p:nvSpPr>
          <p:cNvPr id="243" name="Google Shape;243;p24"/>
          <p:cNvSpPr txBox="1"/>
          <p:nvPr/>
        </p:nvSpPr>
        <p:spPr>
          <a:xfrm>
            <a:off x="3267075" y="4643288"/>
            <a:ext cx="5657850" cy="27429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a:solidFill>
                  <a:srgbClr val="666666"/>
                </a:solidFill>
                <a:latin typeface="Work Sans"/>
                <a:ea typeface="Work Sans"/>
                <a:cs typeface="Work Sans"/>
                <a:sym typeface="Work Sans"/>
              </a:rPr>
              <a:t>Paper: Wang et al., Nature (2024)</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2893</Words>
  <Application>Microsoft Office PowerPoint</Application>
  <PresentationFormat>Widescreen</PresentationFormat>
  <Paragraphs>160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Cambria Math</vt:lpstr>
      <vt:lpstr>Roboto Mono</vt:lpstr>
      <vt:lpstr>Work Sans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Zhuodiao Kuang</cp:lastModifiedBy>
  <cp:revision>1</cp:revision>
  <dcterms:modified xsi:type="dcterms:W3CDTF">2025-11-28T14:42:42Z</dcterms:modified>
</cp:coreProperties>
</file>